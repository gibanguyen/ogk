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</Types>
</file>

<file path=_rels/.rels><?xml version='1.0' encoding='utf-8'?>
<ns0:Relationships xmlns:ns0="http://schemas.openxmlformats.org/package/2006/relationships"><ns0:Relationship Id="rId1" Type="http://schemas.openxmlformats.org/officeDocument/2006/relationships/officeDocument" Target="ppt/presentation.xml" /><ns0:Relationship Id="rId2" Type="http://schemas.openxmlformats.org/package/2006/relationships/metadata/core-properties" Target="docProps/core.xml" /><ns0:Relationship Id="rId3" Type="http://schemas.openxmlformats.org/officeDocument/2006/relationships/extended-properties" Target="docProps/app.xml" /></ns0: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5" r:id="rId2"/>
    <p:sldId id="256" r:id="rId3"/>
    <p:sldId id="257" r:id="rId4"/>
    <p:sldId id="258" r:id="rId5"/>
    <p:sldId id="259" r:id="rId6"/>
    <p:sldId id="260" r:id="rId7"/>
    <p:sldId id="261" r:id="rId8"/>
    <p:sldId id="262" r:id="rId9"/>
  </p:sldIdLst>
  <p:sldSz cx="12192000" cy="6858000" type="screen16x9"/>
  <p:notesSz cx="6858000" cy="9144000"/>
  <p:defaultTextStyle>
    <a:defPPr>
      <a:defRPr lang="vi-VN"/>
    </a:defPPr>
  </p:defaultTextStyle>
</p:presentation>
</file>

<file path=ppt/_rels/presentation.xml.rels><?xml version='1.0' encoding='utf-8'?>
<ns0:Relationships xmlns:ns0="http://schemas.openxmlformats.org/package/2006/relationships"><ns0:Relationship Id="rId1" Type="http://schemas.openxmlformats.org/officeDocument/2006/relationships/slideMaster" Target="slideMasters/slideMaster1.xml" /><ns0:Relationship Id="rId2" Type="http://schemas.openxmlformats.org/officeDocument/2006/relationships/slide" Target="slides/slide1.xml" /><ns0:Relationship Id="rId3" Type="http://schemas.openxmlformats.org/officeDocument/2006/relationships/slide" Target="slides/slide2.xml" /><ns0:Relationship Id="rId4" Type="http://schemas.openxmlformats.org/officeDocument/2006/relationships/slide" Target="slides/slide3.xml" /><ns0:Relationship Id="rId5" Type="http://schemas.openxmlformats.org/officeDocument/2006/relationships/slide" Target="slides/slide4.xml" /><ns0:Relationship Id="rId6" Type="http://schemas.openxmlformats.org/officeDocument/2006/relationships/slide" Target="slides/slide5.xml" /><ns0:Relationship Id="rId7" Type="http://schemas.openxmlformats.org/officeDocument/2006/relationships/slide" Target="slides/slide6.xml" /><ns0:Relationship Id="rId8" Type="http://schemas.openxmlformats.org/officeDocument/2006/relationships/slide" Target="slides/slide7.xml" /><ns0:Relationship Id="rId9" Type="http://schemas.openxmlformats.org/officeDocument/2006/relationships/slide" Target="slides/slide8.xml" /></ns0:Relationships>
</file>

<file path=ppt/slideLayouts/_rels/slideLayout1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1.xml" /><ns0:Relationship Id="rId2" Type="http://schemas.openxmlformats.org/officeDocument/2006/relationships/theme" Target="../theme/theme1.xml" /></ns0: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1" r:id="rId1"/>
  </p:sldLayoutIdLst>
  <p:txStyles>
    <p:titleStyle/>
    <p:bodyStyle/>
    <p:otherStyle/>
  </p:txStyles>
</p:sldMaster>
</file>

<file path=ppt/slides/_rels/slide1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1.xml" /></ns0:Relationships>
</file>

<file path=ppt/slides/_rels/slide2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1.xml" /></ns0:Relationships>
</file>

<file path=ppt/slides/_rels/slide3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1.xml" /></ns0:Relationships>
</file>

<file path=ppt/slides/_rels/slide4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1.xml" /></ns0:Relationships>
</file>

<file path=ppt/slides/_rels/slide5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1.xml" /></ns0:Relationships>
</file>

<file path=ppt/slides/_rels/slide6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1.xml" /></ns0:Relationships>
</file>

<file path=ppt/slides/_rels/slide7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1.xml" /></ns0:Relationships>
</file>

<file path=ppt/slides/_rels/slide8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1.xml" /></ns0: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23B38"/>
          </a:solidFill>
          <a:ln>
            <a:noFill/>
          </a:ln>
        </p:spPr>
      </p:sp>
      <p:sp>
        <p:nvSpPr>
          <p:cNvPr id="3" name="Shape 3"/>
          <p:cNvSpPr/>
          <p:nvPr/>
        </p:nvSpPr>
        <p:spPr>
          <a:xfrm>
            <a:off x="8420100" y="114300"/>
            <a:ext cx="3429000" cy="3429000"/>
          </a:xfrm>
          <a:prstGeom prst="ellipse">
            <a:avLst/>
          </a:prstGeom>
          <a:solidFill>
            <a:srgbClr val="1A514A"/>
          </a:solidFill>
          <a:ln>
            <a:noFill/>
          </a:ln>
        </p:spPr>
      </p:sp>
      <p:sp>
        <p:nvSpPr>
          <p:cNvPr id="4" name="Shape 4"/>
          <p:cNvSpPr/>
          <p:nvPr/>
        </p:nvSpPr>
        <p:spPr>
          <a:xfrm>
            <a:off x="9620250" y="704850"/>
            <a:ext cx="1809750" cy="1809750"/>
          </a:xfrm>
          <a:prstGeom prst="ellipse">
            <a:avLst/>
          </a:prstGeom>
          <a:solidFill>
            <a:srgbClr val="168878"/>
          </a:solidFill>
          <a:ln>
            <a:noFill/>
          </a:ln>
        </p:spPr>
      </p:sp>
      <p:sp>
        <p:nvSpPr>
          <p:cNvPr id="5" name="Shape 5"/>
          <p:cNvSpPr/>
          <p:nvPr/>
        </p:nvSpPr>
        <p:spPr>
          <a:xfrm>
            <a:off x="10096500" y="4171950"/>
            <a:ext cx="1952625" cy="1952625"/>
          </a:xfrm>
          <a:prstGeom prst="ellipse">
            <a:avLst/>
          </a:prstGeom>
          <a:solidFill>
            <a:srgbClr val="1A514A"/>
          </a:solidFill>
          <a:ln>
            <a:noFill/>
          </a:ln>
        </p:spPr>
      </p:sp>
      <p:sp>
        <p:nvSpPr>
          <p:cNvPr id="6" name="Shape 6"/>
          <p:cNvSpPr/>
          <p:nvPr/>
        </p:nvSpPr>
        <p:spPr>
          <a:xfrm>
            <a:off x="609600" y="723900"/>
            <a:ext cx="76200" cy="1095375"/>
          </a:xfrm>
          <a:prstGeom prst="rect">
            <a:avLst/>
          </a:prstGeom>
          <a:solidFill>
            <a:srgbClr val="E9AC51"/>
          </a:solidFill>
          <a:ln>
            <a:noFill/>
          </a:ln>
        </p:spPr>
      </p:sp>
      <p:sp>
        <p:nvSpPr>
          <p:cNvPr id="7" name="Shape 7"/>
          <p:cNvSpPr/>
          <p:nvPr/>
        </p:nvSpPr>
        <p:spPr>
          <a:xfrm>
            <a:off x="914400" y="733425"/>
            <a:ext cx="6667500" cy="333375"/>
          </a:xfrm>
          <a:prstGeom prst="rect">
            <a:avLst/>
          </a:prstGeom>
          <a:noFill/>
          <a:ln>
            <a:noFill/>
          </a:ln>
        </p:spPr>
        <p:txBody>
          <a:bodyPr wrap="square" anchor="ctr" lIns="38100" rIns="38100" tIns="38100" bIns="38100">
            <a:normAutofit/>
          </a:bodyPr>
          <a:lstStyle/>
          <a:p>
            <a:pPr algn="l"/>
            <a:lnSpc>
              <a:spcPct val="112000"/>
            </a:lnSpc>
            <a:r>
              <a:rPr lang="vi-VN" sz="1400" b="1" i="0" dirty="0">
                <a:solidFill>
                  <a:srgbClr val="B5DED0"/>
                </a:solidFill>
                <a:latin typeface="Arial"/>
                <a:ea typeface="Arial"/>
              </a:rPr>
              <a:t xml:space="preserve">BÁO CÁO ĐỒ ÁN  ·  TIẾN ĐỘ TUẦN 1–3</a:t>
            </a:r>
            <a:endParaRPr lang="vi-VN" sz="1400"/>
          </a:p>
        </p:txBody>
      </p:sp>
      <p:sp>
        <p:nvSpPr>
          <p:cNvPr id="8" name="Shape 8"/>
          <p:cNvSpPr/>
          <p:nvPr/>
        </p:nvSpPr>
        <p:spPr>
          <a:xfrm>
            <a:off x="876300" y="1638300"/>
            <a:ext cx="6858000" cy="1238250"/>
          </a:xfrm>
          <a:prstGeom prst="rect">
            <a:avLst/>
          </a:prstGeom>
          <a:noFill/>
          <a:ln>
            <a:noFill/>
          </a:ln>
        </p:spPr>
        <p:txBody>
          <a:bodyPr wrap="square" anchor="ctr" lIns="38100" rIns="38100" tIns="38100" bIns="38100">
            <a:normAutofit/>
          </a:bodyPr>
          <a:lstStyle/>
          <a:p>
            <a:pPr algn="l"/>
            <a:lnSpc>
              <a:spcPct val="112000"/>
            </a:lnSpc>
            <a:r>
              <a:rPr lang="vi-VN" sz="7800" b="1" i="0" dirty="0">
                <a:solidFill>
                  <a:srgbClr val="FFFFFF"/>
                </a:solidFill>
                <a:latin typeface="Arial"/>
                <a:ea typeface="Arial"/>
              </a:rPr>
              <a:t xml:space="preserve">OGK</a:t>
            </a:r>
            <a:endParaRPr lang="vi-VN" sz="7800"/>
          </a:p>
        </p:txBody>
      </p:sp>
      <p:sp>
        <p:nvSpPr>
          <p:cNvPr id="9" name="Shape 9"/>
          <p:cNvSpPr/>
          <p:nvPr/>
        </p:nvSpPr>
        <p:spPr>
          <a:xfrm>
            <a:off x="914400" y="2800350"/>
            <a:ext cx="6572250" cy="952500"/>
          </a:xfrm>
          <a:prstGeom prst="rect">
            <a:avLst/>
          </a:prstGeom>
          <a:noFill/>
          <a:ln>
            <a:noFill/>
          </a:ln>
        </p:spPr>
        <p:txBody>
          <a:bodyPr wrap="square" anchor="top" lIns="38100" rIns="38100" tIns="38100" bIns="38100">
            <a:normAutofit/>
          </a:bodyPr>
          <a:lstStyle/>
          <a:p>
            <a:pPr algn="l"/>
            <a:lnSpc>
              <a:spcPct val="112000"/>
            </a:lnSpc>
            <a:r>
              <a:rPr lang="vi-VN" sz="3000" b="1" i="0" dirty="0">
                <a:solidFill>
                  <a:srgbClr val="FFFFFF"/>
                </a:solidFill>
                <a:latin typeface="Arial"/>
                <a:ea typeface="Arial"/>
              </a:rPr>
              <a:t xml:space="preserve">Hỗ trợ quản lý việc sử dụng</a:t>
            </a:r>
            <a:endParaRPr lang="vi-VN" sz="3000"/>
          </a:p>
          <a:p>
            <a:pPr algn="l"/>
            <a:lnSpc>
              <a:spcPct val="112000"/>
            </a:lnSpc>
            <a:r>
              <a:rPr lang="vi-VN" sz="3000" b="1" i="0" dirty="0">
                <a:solidFill>
                  <a:srgbClr val="FFFFFF"/>
                </a:solidFill>
                <a:latin typeface="Arial"/>
                <a:ea typeface="Arial"/>
              </a:rPr>
              <a:t xml:space="preserve">máy tính của trẻ em</a:t>
            </a:r>
            <a:endParaRPr lang="vi-VN" sz="3000"/>
          </a:p>
        </p:txBody>
      </p:sp>
      <p:sp>
        <p:nvSpPr>
          <p:cNvPr id="10" name="Shape 10"/>
          <p:cNvSpPr/>
          <p:nvPr/>
        </p:nvSpPr>
        <p:spPr>
          <a:xfrm>
            <a:off x="914400" y="4210050"/>
            <a:ext cx="6286500" cy="6858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8100" rIns="38100" tIns="38100" bIns="38100">
            <a:normAutofit/>
          </a:bodyPr>
          <a:lstStyle/>
          <a:p>
            <a:pPr algn="l"/>
            <a:lnSpc>
              <a:spcPct val="112000"/>
            </a:lnSpc>
            <a:r>
              <a:rPr lang="vi-VN" sz="1900" b="0" i="0" dirty="0">
                <a:solidFill>
                  <a:srgbClr val="D0E4DC"/>
                </a:solidFill>
                <a:latin typeface="Arial"/>
                <a:ea typeface="Arial"/>
              </a:rPr>
              <a:t xml:space="preserve">Prototype minh bạch cho gia đình</a:t>
            </a:r>
            <a:endParaRPr lang="vi-VN" sz="1900"/>
          </a:p>
          <a:p>
            <a:pPr algn="l"/>
            <a:lnSpc>
              <a:spcPct val="112000"/>
            </a:lnSpc>
            <a:r>
              <a:rPr lang="vi-VN" sz="1900" b="0" i="0" dirty="0">
                <a:solidFill>
                  <a:srgbClr val="D0E4DC"/>
                </a:solidFill>
                <a:latin typeface="Arial"/>
                <a:ea typeface="Arial"/>
              </a:rPr>
              <a:t xml:space="preserve">Server · Agent · Dashboard</a:t>
            </a:r>
            <a:endParaRPr lang="vi-VN" sz="1900"/>
          </a:p>
        </p:txBody>
      </p:sp>
      <p:sp>
        <p:nvSpPr>
          <p:cNvPr id="11" name="Shape 11"/>
          <p:cNvSpPr/>
          <p:nvPr/>
        </p:nvSpPr>
        <p:spPr>
          <a:xfrm>
            <a:off x="914400" y="5353050"/>
            <a:ext cx="2228850" cy="400050"/>
          </a:xfrm>
          <a:prstGeom prst="roundRect">
            <a:avLst/>
          </a:prstGeom>
          <a:solidFill>
            <a:srgbClr val="168878"/>
          </a:solidFill>
          <a:ln>
            <a:noFill/>
          </a:ln>
        </p:spPr>
      </p:sp>
      <p:sp>
        <p:nvSpPr>
          <p:cNvPr id="12" name="Shape 12"/>
          <p:cNvSpPr/>
          <p:nvPr/>
        </p:nvSpPr>
        <p:spPr>
          <a:xfrm>
            <a:off x="1028700" y="5429250"/>
            <a:ext cx="2019300" cy="238125"/>
          </a:xfrm>
          <a:prstGeom prst="rect">
            <a:avLst/>
          </a:prstGeom>
          <a:noFill/>
          <a:ln>
            <a:noFill/>
          </a:ln>
        </p:spPr>
        <p:txBody>
          <a:bodyPr wrap="square" anchor="ctr" lIns="38100" rIns="38100" tIns="38100" bIns="38100">
            <a:normAutofit/>
          </a:bodyPr>
          <a:lstStyle/>
          <a:p>
            <a:pPr algn="ctr"/>
            <a:lnSpc>
              <a:spcPct val="112000"/>
            </a:lnSpc>
            <a:r>
              <a:rPr lang="vi-VN" sz="1200" b="1" i="0" dirty="0">
                <a:solidFill>
                  <a:srgbClr val="FFFFFF"/>
                </a:solidFill>
                <a:latin typeface="Arial"/>
                <a:ea typeface="Arial"/>
              </a:rPr>
              <a:t xml:space="preserve">PHẠM VI: LAB / LOCAL</a:t>
            </a:r>
            <a:endParaRPr lang="vi-VN" sz="1200"/>
          </a:p>
        </p:txBody>
      </p:sp>
      <p:sp>
        <p:nvSpPr>
          <p:cNvPr id="13" name="Shape 13"/>
          <p:cNvSpPr/>
          <p:nvPr/>
        </p:nvSpPr>
        <p:spPr>
          <a:xfrm>
            <a:off x="914400" y="6315075"/>
            <a:ext cx="4286250" cy="2286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8100" rIns="38100" tIns="38100" bIns="38100">
            <a:normAutofit/>
          </a:bodyPr>
          <a:lstStyle/>
          <a:p>
            <a:pPr algn="l"/>
            <a:lnSpc>
              <a:spcPct val="112000"/>
            </a:lnSpc>
            <a:r>
              <a:rPr lang="vi-VN" sz="1100" b="0" i="0" dirty="0">
                <a:solidFill>
                  <a:srgbClr val="A9C8BE"/>
                </a:solidFill>
                <a:latin typeface="Arial"/>
                <a:ea typeface="Arial"/>
              </a:rPr>
              <a:t xml:space="preserve">Bản trình bày tổng hợp từ tài liệu dự án</a:t>
            </a:r>
            <a:endParaRPr lang="vi-VN" sz="11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7F2"/>
          </a:solidFill>
          <a:ln>
            <a:noFill/>
          </a:ln>
        </p:spPr>
      </p:sp>
      <p:sp>
        <p:nvSpPr>
          <p:cNvPr id="3" name="Shape 3"/>
          <p:cNvSpPr/>
          <p:nvPr/>
        </p:nvSpPr>
        <p:spPr>
          <a:xfrm>
            <a:off x="0" y="0"/>
            <a:ext cx="133350" cy="6858000"/>
          </a:xfrm>
          <a:prstGeom prst="rect">
            <a:avLst/>
          </a:prstGeom>
          <a:solidFill>
            <a:srgbClr val="168878"/>
          </a:solidFill>
          <a:ln>
            <a:noFill/>
          </a:ln>
        </p:spPr>
      </p:sp>
      <p:sp>
        <p:nvSpPr>
          <p:cNvPr id="4" name="Shape 4"/>
          <p:cNvSpPr/>
          <p:nvPr/>
        </p:nvSpPr>
        <p:spPr>
          <a:xfrm>
            <a:off x="609600" y="323850"/>
            <a:ext cx="9525000" cy="238125"/>
          </a:xfrm>
          <a:prstGeom prst="rect">
            <a:avLst/>
          </a:prstGeom>
          <a:noFill/>
          <a:ln>
            <a:noFill/>
          </a:ln>
        </p:spPr>
        <p:txBody>
          <a:bodyPr wrap="square" anchor="ctr" lIns="38100" rIns="38100" tIns="38100" bIns="38100">
            <a:normAutofit/>
          </a:bodyPr>
          <a:lstStyle/>
          <a:p>
            <a:pPr algn="l"/>
            <a:lnSpc>
              <a:spcPct val="112000"/>
            </a:lnSpc>
            <a:r>
              <a:rPr lang="vi-VN" sz="1200" b="1" i="0" dirty="0">
                <a:solidFill>
                  <a:srgbClr val="168878"/>
                </a:solidFill>
                <a:latin typeface="Arial"/>
                <a:ea typeface="Arial"/>
              </a:rPr>
              <a:t xml:space="preserve">01  /  ĐỊNH HƯỚNG</a:t>
            </a:r>
            <a:endParaRPr lang="vi-VN" sz="1200"/>
          </a:p>
        </p:txBody>
      </p:sp>
      <p:sp>
        <p:nvSpPr>
          <p:cNvPr id="5" name="Shape 5"/>
          <p:cNvSpPr/>
          <p:nvPr/>
        </p:nvSpPr>
        <p:spPr>
          <a:xfrm>
            <a:off x="609600" y="600075"/>
            <a:ext cx="10668000" cy="514350"/>
          </a:xfrm>
          <a:prstGeom prst="rect">
            <a:avLst/>
          </a:prstGeom>
          <a:noFill/>
          <a:ln>
            <a:noFill/>
          </a:ln>
        </p:spPr>
        <p:txBody>
          <a:bodyPr wrap="square" anchor="ctr" lIns="38100" rIns="38100" tIns="38100" bIns="38100">
            <a:normAutofit/>
          </a:bodyPr>
          <a:lstStyle/>
          <a:p>
            <a:pPr algn="l"/>
            <a:lnSpc>
              <a:spcPct val="112000"/>
            </a:lnSpc>
            <a:r>
              <a:rPr lang="vi-VN" sz="3100" b="1" i="0" dirty="0">
                <a:solidFill>
                  <a:srgbClr val="123B38"/>
                </a:solidFill>
                <a:latin typeface="Arial"/>
                <a:ea typeface="Arial"/>
              </a:rPr>
              <a:t xml:space="preserve">Mục tiêu và phạm vi prototype</a:t>
            </a:r>
            <a:endParaRPr lang="vi-VN" sz="3100"/>
          </a:p>
        </p:txBody>
      </p:sp>
      <p:sp>
        <p:nvSpPr>
          <p:cNvPr id="6" name="Shape 6"/>
          <p:cNvSpPr/>
          <p:nvPr/>
        </p:nvSpPr>
        <p:spPr>
          <a:xfrm>
            <a:off x="609600" y="1219200"/>
            <a:ext cx="10953750" cy="9525"/>
          </a:xfrm>
          <a:prstGeom prst="rect">
            <a:avLst/>
          </a:prstGeom>
          <a:solidFill>
            <a:srgbClr val="D9E7E0"/>
          </a:solidFill>
          <a:ln>
            <a:noFill/>
          </a:ln>
        </p:spPr>
      </p:sp>
      <p:sp>
        <p:nvSpPr>
          <p:cNvPr id="7" name="Shape 7"/>
          <p:cNvSpPr/>
          <p:nvPr/>
        </p:nvSpPr>
        <p:spPr>
          <a:xfrm>
            <a:off x="609600" y="6438900"/>
            <a:ext cx="8096250" cy="1905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8100" rIns="38100" tIns="38100" bIns="38100">
            <a:normAutofit/>
          </a:bodyPr>
          <a:lstStyle/>
          <a:p>
            <a:pPr algn="l"/>
            <a:lnSpc>
              <a:spcPct val="112000"/>
            </a:lnSpc>
            <a:r>
              <a:rPr lang="vi-VN" sz="1000" b="0" i="0" dirty="0">
                <a:solidFill>
                  <a:srgbClr val="617A75"/>
                </a:solidFill>
                <a:latin typeface="Arial"/>
                <a:ea typeface="Arial"/>
              </a:rPr>
              <a:t xml:space="preserve">OGK  /  Prototype học tập  /  Tuần 1–3</a:t>
            </a:r>
            <a:endParaRPr lang="vi-VN" sz="1000"/>
          </a:p>
        </p:txBody>
      </p:sp>
      <p:sp>
        <p:nvSpPr>
          <p:cNvPr id="8" name="Shape 8"/>
          <p:cNvSpPr/>
          <p:nvPr/>
        </p:nvSpPr>
        <p:spPr>
          <a:xfrm>
            <a:off x="11049000" y="6419850"/>
            <a:ext cx="476250" cy="209550"/>
          </a:xfrm>
          <a:prstGeom prst="rect">
            <a:avLst/>
          </a:prstGeom>
          <a:noFill/>
          <a:ln>
            <a:noFill/>
          </a:ln>
        </p:spPr>
        <p:txBody>
          <a:bodyPr wrap="square" anchor="ctr" lIns="38100" rIns="38100" tIns="38100" bIns="38100">
            <a:normAutofit/>
          </a:bodyPr>
          <a:lstStyle/>
          <a:p>
            <a:pPr algn="r"/>
            <a:lnSpc>
              <a:spcPct val="112000"/>
            </a:lnSpc>
            <a:r>
              <a:rPr lang="vi-VN" sz="1100" b="1" i="0" dirty="0">
                <a:solidFill>
                  <a:srgbClr val="168878"/>
                </a:solidFill>
                <a:latin typeface="Arial"/>
                <a:ea typeface="Arial"/>
              </a:rPr>
              <a:t xml:space="preserve">02</a:t>
            </a:r>
            <a:endParaRPr lang="vi-VN" sz="1100"/>
          </a:p>
        </p:txBody>
      </p:sp>
      <p:sp>
        <p:nvSpPr>
          <p:cNvPr id="9" name="Shape 9"/>
          <p:cNvSpPr/>
          <p:nvPr/>
        </p:nvSpPr>
        <p:spPr>
          <a:xfrm>
            <a:off x="609600" y="1504950"/>
            <a:ext cx="4667250" cy="1009650"/>
          </a:xfrm>
          <a:prstGeom prst="rect">
            <a:avLst/>
          </a:prstGeom>
          <a:noFill/>
          <a:ln>
            <a:noFill/>
          </a:ln>
        </p:spPr>
        <p:txBody>
          <a:bodyPr wrap="square" anchor="top" lIns="38100" rIns="38100" tIns="38100" bIns="38100">
            <a:normAutofit/>
          </a:bodyPr>
          <a:lstStyle/>
          <a:p>
            <a:pPr algn="l"/>
            <a:lnSpc>
              <a:spcPct val="112000"/>
            </a:lnSpc>
            <a:r>
              <a:rPr lang="vi-VN" sz="2500" b="1" i="0" dirty="0">
                <a:solidFill>
                  <a:srgbClr val="123B38"/>
                </a:solidFill>
                <a:latin typeface="Arial"/>
                <a:ea typeface="Arial"/>
              </a:rPr>
              <a:t xml:space="preserve">Một luồng thống nhất để cấu hình giới hạn,</a:t>
            </a:r>
            <a:endParaRPr lang="vi-VN" sz="2500"/>
          </a:p>
          <a:p>
            <a:pPr algn="l"/>
            <a:lnSpc>
              <a:spcPct val="112000"/>
            </a:lnSpc>
            <a:r>
              <a:rPr lang="vi-VN" sz="2500" b="1" i="0" dirty="0">
                <a:solidFill>
                  <a:srgbClr val="123B38"/>
                </a:solidFill>
                <a:latin typeface="Arial"/>
                <a:ea typeface="Arial"/>
              </a:rPr>
              <a:t xml:space="preserve">đồng bộ xuống máy và xem báo cáo.</a:t>
            </a:r>
            <a:endParaRPr lang="vi-VN" sz="2500"/>
          </a:p>
        </p:txBody>
      </p:sp>
      <p:sp>
        <p:nvSpPr>
          <p:cNvPr id="10" name="Shape 10"/>
          <p:cNvSpPr/>
          <p:nvPr/>
        </p:nvSpPr>
        <p:spPr>
          <a:xfrm>
            <a:off x="609600" y="2790825"/>
            <a:ext cx="4476750" cy="1095375"/>
          </a:xfrm>
          <a:prstGeom prst="rect">
            <a:avLst/>
          </a:prstGeom>
          <a:noFill/>
          <a:ln>
            <a:noFill/>
          </a:ln>
        </p:spPr>
        <p:txBody>
          <a:bodyPr wrap="square" anchor="top" lIns="38100" rIns="38100" tIns="38100" bIns="38100">
            <a:normAutofit/>
          </a:bodyPr>
          <a:lstStyle/>
          <a:p>
            <a:pPr algn="l"/>
            <a:lnSpc>
              <a:spcPct val="112000"/>
            </a:lnSpc>
            <a:r>
              <a:rPr lang="vi-VN" sz="1800" b="0" i="0" dirty="0">
                <a:solidFill>
                  <a:srgbClr val="617A75"/>
                </a:solidFill>
                <a:latin typeface="Arial"/>
                <a:ea typeface="Arial"/>
              </a:rPr>
              <a:t xml:space="preserve">Phụ huynh chỉnh policy trên dashboard. Agent nhận policy, kiểm tra chữ ký, theo dõi thời gian và gửi event về server.</a:t>
            </a:r>
            <a:endParaRPr lang="vi-VN" sz="1800"/>
          </a:p>
        </p:txBody>
      </p:sp>
      <p:sp>
        <p:nvSpPr>
          <p:cNvPr id="11" name="Shape 11"/>
          <p:cNvSpPr/>
          <p:nvPr/>
        </p:nvSpPr>
        <p:spPr>
          <a:xfrm>
            <a:off x="5791200" y="1543050"/>
            <a:ext cx="539115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E9E3"/>
            </a:solidFill>
          </a:ln>
        </p:spPr>
      </p:sp>
      <p:sp>
        <p:nvSpPr>
          <p:cNvPr id="12" name="Shape 12"/>
          <p:cNvSpPr/>
          <p:nvPr/>
        </p:nvSpPr>
        <p:spPr>
          <a:xfrm>
            <a:off x="6153150" y="1819275"/>
            <a:ext cx="4667250" cy="333375"/>
          </a:xfrm>
          <a:prstGeom prst="rect">
            <a:avLst/>
          </a:prstGeom>
          <a:noFill/>
          <a:ln>
            <a:noFill/>
          </a:ln>
        </p:spPr>
        <p:txBody>
          <a:bodyPr wrap="square" anchor="ctr" lIns="38100" rIns="38100" tIns="38100" bIns="38100">
            <a:normAutofit/>
          </a:bodyPr>
          <a:lstStyle/>
          <a:p>
            <a:pPr algn="l"/>
            <a:lnSpc>
              <a:spcPct val="112000"/>
            </a:lnSpc>
            <a:r>
              <a:rPr lang="vi-VN" sz="2000" b="1" i="0" dirty="0">
                <a:solidFill>
                  <a:srgbClr val="123B38"/>
                </a:solidFill>
                <a:latin typeface="Arial"/>
                <a:ea typeface="Arial"/>
              </a:rPr>
              <a:t xml:space="preserve">Ba phần việc trong 3 tuần</a:t>
            </a:r>
            <a:endParaRPr lang="vi-VN" sz="2000"/>
          </a:p>
        </p:txBody>
      </p:sp>
      <p:sp>
        <p:nvSpPr>
          <p:cNvPr id="13" name="Shape 13"/>
          <p:cNvSpPr/>
          <p:nvPr/>
        </p:nvSpPr>
        <p:spPr>
          <a:xfrm>
            <a:off x="6153150" y="2381250"/>
            <a:ext cx="438150" cy="438150"/>
          </a:xfrm>
          <a:prstGeom prst="roundRect">
            <a:avLst/>
          </a:prstGeom>
          <a:solidFill>
            <a:srgbClr val="168878"/>
          </a:solidFill>
          <a:ln>
            <a:noFill/>
          </a:ln>
        </p:spPr>
      </p:sp>
      <p:sp>
        <p:nvSpPr>
          <p:cNvPr id="14" name="Shape 14"/>
          <p:cNvSpPr/>
          <p:nvPr/>
        </p:nvSpPr>
        <p:spPr>
          <a:xfrm>
            <a:off x="6200775" y="2466975"/>
            <a:ext cx="342900" cy="238125"/>
          </a:xfrm>
          <a:prstGeom prst="rect">
            <a:avLst/>
          </a:prstGeom>
          <a:noFill/>
          <a:ln>
            <a:noFill/>
          </a:ln>
        </p:spPr>
        <p:txBody>
          <a:bodyPr wrap="square" anchor="ctr" lIns="38100" rIns="38100" tIns="38100" bIns="38100">
            <a:normAutofit/>
          </a:bodyPr>
          <a:lstStyle/>
          <a:p>
            <a:pPr algn="ctr"/>
            <a:lnSpc>
              <a:spcPct val="112000"/>
            </a:lnSpc>
            <a:r>
              <a:rPr lang="vi-VN" sz="1300" b="1" i="0" dirty="0">
                <a:solidFill>
                  <a:srgbClr val="FFFFFF"/>
                </a:solidFill>
                <a:latin typeface="Arial"/>
                <a:ea typeface="Arial"/>
              </a:rPr>
              <a:t xml:space="preserve">01</a:t>
            </a:r>
            <a:endParaRPr lang="vi-VN" sz="1300"/>
          </a:p>
        </p:txBody>
      </p:sp>
      <p:sp>
        <p:nvSpPr>
          <p:cNvPr id="15" name="Shape 15"/>
          <p:cNvSpPr/>
          <p:nvPr/>
        </p:nvSpPr>
        <p:spPr>
          <a:xfrm>
            <a:off x="6772275" y="2371725"/>
            <a:ext cx="390525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8100" rIns="38100" tIns="38100" bIns="38100">
            <a:normAutofit/>
          </a:bodyPr>
          <a:lstStyle/>
          <a:p>
            <a:pPr algn="l"/>
            <a:lnSpc>
              <a:spcPct val="112000"/>
            </a:lnSpc>
            <a:r>
              <a:rPr lang="vi-VN" sz="1700" b="1" i="0" dirty="0">
                <a:solidFill>
                  <a:srgbClr val="123B38"/>
                </a:solidFill>
                <a:latin typeface="Arial"/>
                <a:ea typeface="Arial"/>
              </a:rPr>
              <a:t xml:space="preserve">Nền tảng kết nối</a:t>
            </a:r>
            <a:endParaRPr lang="vi-VN" sz="1700"/>
          </a:p>
        </p:txBody>
      </p:sp>
      <p:sp>
        <p:nvSpPr>
          <p:cNvPr id="16" name="Shape 16"/>
          <p:cNvSpPr/>
          <p:nvPr/>
        </p:nvSpPr>
        <p:spPr>
          <a:xfrm>
            <a:off x="6772275" y="2657475"/>
            <a:ext cx="4000500" cy="3429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8100" rIns="38100" tIns="38100" bIns="38100">
            <a:normAutofit/>
          </a:bodyPr>
          <a:lstStyle/>
          <a:p>
            <a:pPr algn="l"/>
            <a:lnSpc>
              <a:spcPct val="112000"/>
            </a:lnSpc>
            <a:r>
              <a:rPr lang="vi-VN" sz="1400" b="0" i="0" dirty="0">
                <a:solidFill>
                  <a:srgbClr val="617A75"/>
                </a:solidFill>
                <a:latin typeface="Arial"/>
                <a:ea typeface="Arial"/>
              </a:rPr>
              <a:t xml:space="preserve">FastAPI · SQLite · enrollment demo</a:t>
            </a:r>
            <a:endParaRPr lang="vi-VN" sz="1400"/>
          </a:p>
        </p:txBody>
      </p:sp>
      <p:sp>
        <p:nvSpPr>
          <p:cNvPr id="17" name="Shape 17"/>
          <p:cNvSpPr/>
          <p:nvPr/>
        </p:nvSpPr>
        <p:spPr>
          <a:xfrm>
            <a:off x="6153150" y="3333750"/>
            <a:ext cx="438150" cy="438150"/>
          </a:xfrm>
          <a:prstGeom prst="roundRect">
            <a:avLst/>
          </a:prstGeom>
          <a:solidFill>
            <a:srgbClr val="48B89A"/>
          </a:solidFill>
          <a:ln>
            <a:noFill/>
          </a:ln>
        </p:spPr>
      </p:sp>
      <p:sp>
        <p:nvSpPr>
          <p:cNvPr id="18" name="Shape 18"/>
          <p:cNvSpPr/>
          <p:nvPr/>
        </p:nvSpPr>
        <p:spPr>
          <a:xfrm>
            <a:off x="6200775" y="3419475"/>
            <a:ext cx="342900" cy="238125"/>
          </a:xfrm>
          <a:prstGeom prst="rect">
            <a:avLst/>
          </a:prstGeom>
          <a:noFill/>
          <a:ln>
            <a:noFill/>
          </a:ln>
        </p:spPr>
        <p:txBody>
          <a:bodyPr wrap="square" anchor="ctr" lIns="38100" rIns="38100" tIns="38100" bIns="38100">
            <a:normAutofit/>
          </a:bodyPr>
          <a:lstStyle/>
          <a:p>
            <a:pPr algn="ctr"/>
            <a:lnSpc>
              <a:spcPct val="112000"/>
            </a:lnSpc>
            <a:r>
              <a:rPr lang="vi-VN" sz="1300" b="1" i="0" dirty="0">
                <a:solidFill>
                  <a:srgbClr val="FFFFFF"/>
                </a:solidFill>
                <a:latin typeface="Arial"/>
                <a:ea typeface="Arial"/>
              </a:rPr>
              <a:t xml:space="preserve">02</a:t>
            </a:r>
            <a:endParaRPr lang="vi-VN" sz="1300"/>
          </a:p>
        </p:txBody>
      </p:sp>
      <p:sp>
        <p:nvSpPr>
          <p:cNvPr id="19" name="Shape 19"/>
          <p:cNvSpPr/>
          <p:nvPr/>
        </p:nvSpPr>
        <p:spPr>
          <a:xfrm>
            <a:off x="6772275" y="3324225"/>
            <a:ext cx="390525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8100" rIns="38100" tIns="38100" bIns="38100">
            <a:normAutofit/>
          </a:bodyPr>
          <a:lstStyle/>
          <a:p>
            <a:pPr algn="l"/>
            <a:lnSpc>
              <a:spcPct val="112000"/>
            </a:lnSpc>
            <a:r>
              <a:rPr lang="vi-VN" sz="1700" b="1" i="0" dirty="0">
                <a:solidFill>
                  <a:srgbClr val="123B38"/>
                </a:solidFill>
                <a:latin typeface="Arial"/>
                <a:ea typeface="Arial"/>
              </a:rPr>
              <a:t xml:space="preserve">Giới hạn thời gian</a:t>
            </a:r>
            <a:endParaRPr lang="vi-VN" sz="1700"/>
          </a:p>
        </p:txBody>
      </p:sp>
      <p:sp>
        <p:nvSpPr>
          <p:cNvPr id="20" name="Shape 20"/>
          <p:cNvSpPr/>
          <p:nvPr/>
        </p:nvSpPr>
        <p:spPr>
          <a:xfrm>
            <a:off x="6772275" y="3609975"/>
            <a:ext cx="4000500" cy="3429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8100" rIns="38100" tIns="38100" bIns="38100">
            <a:normAutofit/>
          </a:bodyPr>
          <a:lstStyle/>
          <a:p>
            <a:pPr algn="l"/>
            <a:lnSpc>
              <a:spcPct val="112000"/>
            </a:lnSpc>
            <a:r>
              <a:rPr lang="vi-VN" sz="1400" b="0" i="0" dirty="0">
                <a:solidFill>
                  <a:srgbClr val="617A75"/>
                </a:solidFill>
                <a:latin typeface="Arial"/>
                <a:ea typeface="Arial"/>
              </a:rPr>
              <a:t xml:space="preserve">Quota · lịch 7×48 · policy HMAC</a:t>
            </a:r>
            <a:endParaRPr lang="vi-VN" sz="1400"/>
          </a:p>
        </p:txBody>
      </p:sp>
      <p:sp>
        <p:nvSpPr>
          <p:cNvPr id="21" name="Shape 21"/>
          <p:cNvSpPr/>
          <p:nvPr/>
        </p:nvSpPr>
        <p:spPr>
          <a:xfrm>
            <a:off x="6153150" y="4286250"/>
            <a:ext cx="438150" cy="438150"/>
          </a:xfrm>
          <a:prstGeom prst="roundRect">
            <a:avLst/>
          </a:prstGeom>
          <a:solidFill>
            <a:srgbClr val="E9AC51"/>
          </a:solidFill>
          <a:ln>
            <a:noFill/>
          </a:ln>
        </p:spPr>
      </p:sp>
      <p:sp>
        <p:nvSpPr>
          <p:cNvPr id="22" name="Shape 22"/>
          <p:cNvSpPr/>
          <p:nvPr/>
        </p:nvSpPr>
        <p:spPr>
          <a:xfrm>
            <a:off x="6200775" y="4371975"/>
            <a:ext cx="342900" cy="238125"/>
          </a:xfrm>
          <a:prstGeom prst="rect">
            <a:avLst/>
          </a:prstGeom>
          <a:noFill/>
          <a:ln>
            <a:noFill/>
          </a:ln>
        </p:spPr>
        <p:txBody>
          <a:bodyPr wrap="square" anchor="ctr" lIns="38100" rIns="38100" tIns="38100" bIns="38100">
            <a:normAutofit/>
          </a:bodyPr>
          <a:lstStyle/>
          <a:p>
            <a:pPr algn="ctr"/>
            <a:lnSpc>
              <a:spcPct val="112000"/>
            </a:lnSpc>
            <a:r>
              <a:rPr lang="vi-VN" sz="1300" b="1" i="0" dirty="0">
                <a:solidFill>
                  <a:srgbClr val="FFFFFF"/>
                </a:solidFill>
                <a:latin typeface="Arial"/>
                <a:ea typeface="Arial"/>
              </a:rPr>
              <a:t xml:space="preserve">03</a:t>
            </a:r>
            <a:endParaRPr lang="vi-VN" sz="1300"/>
          </a:p>
        </p:txBody>
      </p:sp>
      <p:sp>
        <p:nvSpPr>
          <p:cNvPr id="23" name="Shape 23"/>
          <p:cNvSpPr/>
          <p:nvPr/>
        </p:nvSpPr>
        <p:spPr>
          <a:xfrm>
            <a:off x="6772275" y="4276725"/>
            <a:ext cx="390525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8100" rIns="38100" tIns="38100" bIns="38100">
            <a:normAutofit/>
          </a:bodyPr>
          <a:lstStyle/>
          <a:p>
            <a:pPr algn="l"/>
            <a:lnSpc>
              <a:spcPct val="112000"/>
            </a:lnSpc>
            <a:r>
              <a:rPr lang="vi-VN" sz="1700" b="1" i="0" dirty="0">
                <a:solidFill>
                  <a:srgbClr val="123B38"/>
                </a:solidFill>
                <a:latin typeface="Arial"/>
                <a:ea typeface="Arial"/>
              </a:rPr>
              <a:t xml:space="preserve">Quan sát và minh bạch</a:t>
            </a:r>
            <a:endParaRPr lang="vi-VN" sz="1700"/>
          </a:p>
        </p:txBody>
      </p:sp>
      <p:sp>
        <p:nvSpPr>
          <p:cNvPr id="24" name="Shape 24"/>
          <p:cNvSpPr/>
          <p:nvPr/>
        </p:nvSpPr>
        <p:spPr>
          <a:xfrm>
            <a:off x="6772275" y="4562475"/>
            <a:ext cx="4000500" cy="3429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8100" rIns="38100" tIns="38100" bIns="38100">
            <a:normAutofit/>
          </a:bodyPr>
          <a:lstStyle/>
          <a:p>
            <a:pPr algn="l"/>
            <a:lnSpc>
              <a:spcPct val="112000"/>
            </a:lnSpc>
            <a:r>
              <a:rPr lang="vi-VN" sz="1400" b="0" i="0" dirty="0">
                <a:solidFill>
                  <a:srgbClr val="617A75"/>
                </a:solidFill>
                <a:latin typeface="Arial"/>
                <a:ea typeface="Arial"/>
              </a:rPr>
              <a:t xml:space="preserve">DNS/app prototype · event · báo cáo</a:t>
            </a:r>
            <a:endParaRPr lang="vi-VN" sz="1400"/>
          </a:p>
        </p:txBody>
      </p:sp>
      <p:sp>
        <p:nvSpPr>
          <p:cNvPr id="25" name="Shape 25"/>
          <p:cNvSpPr/>
          <p:nvPr/>
        </p:nvSpPr>
        <p:spPr>
          <a:xfrm>
            <a:off x="609600" y="4857750"/>
            <a:ext cx="4495800" cy="523875"/>
          </a:xfrm>
          <a:prstGeom prst="rect">
            <a:avLst/>
          </a:prstGeom>
          <a:noFill/>
          <a:ln>
            <a:noFill/>
          </a:ln>
        </p:spPr>
        <p:txBody>
          <a:bodyPr wrap="square" anchor="top" lIns="38100" rIns="38100" tIns="38100" bIns="38100">
            <a:normAutofit/>
          </a:bodyPr>
          <a:lstStyle/>
          <a:p>
            <a:pPr algn="l"/>
            <a:lnSpc>
              <a:spcPct val="112000"/>
            </a:lnSpc>
            <a:r>
              <a:rPr lang="vi-VN" sz="1600" b="1" i="0" dirty="0">
                <a:solidFill>
                  <a:srgbClr val="168878"/>
                </a:solidFill>
                <a:latin typeface="Arial"/>
                <a:ea typeface="Arial"/>
              </a:rPr>
              <a:t xml:space="preserve">Thiết kế ưu tiên hiển thị rõ trạng thái và thu thập dữ liệu tối thiểu.</a:t>
            </a:r>
            <a:endParaRPr lang="vi-VN" sz="16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7F2"/>
          </a:solidFill>
          <a:ln>
            <a:noFill/>
          </a:ln>
        </p:spPr>
      </p:sp>
      <p:sp>
        <p:nvSpPr>
          <p:cNvPr id="3" name="Shape 3"/>
          <p:cNvSpPr/>
          <p:nvPr/>
        </p:nvSpPr>
        <p:spPr>
          <a:xfrm>
            <a:off x="0" y="0"/>
            <a:ext cx="133350" cy="6858000"/>
          </a:xfrm>
          <a:prstGeom prst="rect">
            <a:avLst/>
          </a:prstGeom>
          <a:solidFill>
            <a:srgbClr val="168878"/>
          </a:solidFill>
          <a:ln>
            <a:noFill/>
          </a:ln>
        </p:spPr>
      </p:sp>
      <p:sp>
        <p:nvSpPr>
          <p:cNvPr id="4" name="Shape 4"/>
          <p:cNvSpPr/>
          <p:nvPr/>
        </p:nvSpPr>
        <p:spPr>
          <a:xfrm>
            <a:off x="609600" y="323850"/>
            <a:ext cx="9525000" cy="238125"/>
          </a:xfrm>
          <a:prstGeom prst="rect">
            <a:avLst/>
          </a:prstGeom>
          <a:noFill/>
          <a:ln>
            <a:noFill/>
          </a:ln>
        </p:spPr>
        <p:txBody>
          <a:bodyPr wrap="square" anchor="ctr" lIns="38100" rIns="38100" tIns="38100" bIns="38100">
            <a:normAutofit/>
          </a:bodyPr>
          <a:lstStyle/>
          <a:p>
            <a:pPr algn="l"/>
            <a:lnSpc>
              <a:spcPct val="112000"/>
            </a:lnSpc>
            <a:r>
              <a:rPr lang="vi-VN" sz="1200" b="1" i="0" dirty="0">
                <a:solidFill>
                  <a:srgbClr val="168878"/>
                </a:solidFill>
                <a:latin typeface="Arial"/>
                <a:ea typeface="Arial"/>
              </a:rPr>
              <a:t xml:space="preserve">02  /  HỆ THỐNG</a:t>
            </a:r>
            <a:endParaRPr lang="vi-VN" sz="1200"/>
          </a:p>
        </p:txBody>
      </p:sp>
      <p:sp>
        <p:nvSpPr>
          <p:cNvPr id="5" name="Shape 5"/>
          <p:cNvSpPr/>
          <p:nvPr/>
        </p:nvSpPr>
        <p:spPr>
          <a:xfrm>
            <a:off x="609600" y="600075"/>
            <a:ext cx="10668000" cy="514350"/>
          </a:xfrm>
          <a:prstGeom prst="rect">
            <a:avLst/>
          </a:prstGeom>
          <a:noFill/>
          <a:ln>
            <a:noFill/>
          </a:ln>
        </p:spPr>
        <p:txBody>
          <a:bodyPr wrap="square" anchor="ctr" lIns="38100" rIns="38100" tIns="38100" bIns="38100">
            <a:normAutofit/>
          </a:bodyPr>
          <a:lstStyle/>
          <a:p>
            <a:pPr algn="l"/>
            <a:lnSpc>
              <a:spcPct val="112000"/>
            </a:lnSpc>
            <a:r>
              <a:rPr lang="vi-VN" sz="3100" b="1" i="0" dirty="0">
                <a:solidFill>
                  <a:srgbClr val="123B38"/>
                </a:solidFill>
                <a:latin typeface="Arial"/>
                <a:ea typeface="Arial"/>
              </a:rPr>
              <a:t xml:space="preserve">Kiến trúc và luồng dữ liệu</a:t>
            </a:r>
            <a:endParaRPr lang="vi-VN" sz="3100"/>
          </a:p>
        </p:txBody>
      </p:sp>
      <p:sp>
        <p:nvSpPr>
          <p:cNvPr id="6" name="Shape 6"/>
          <p:cNvSpPr/>
          <p:nvPr/>
        </p:nvSpPr>
        <p:spPr>
          <a:xfrm>
            <a:off x="609600" y="1219200"/>
            <a:ext cx="10953750" cy="9525"/>
          </a:xfrm>
          <a:prstGeom prst="rect">
            <a:avLst/>
          </a:prstGeom>
          <a:solidFill>
            <a:srgbClr val="D9E7E0"/>
          </a:solidFill>
          <a:ln>
            <a:noFill/>
          </a:ln>
        </p:spPr>
      </p:sp>
      <p:sp>
        <p:nvSpPr>
          <p:cNvPr id="7" name="Shape 7"/>
          <p:cNvSpPr/>
          <p:nvPr/>
        </p:nvSpPr>
        <p:spPr>
          <a:xfrm>
            <a:off x="609600" y="6438900"/>
            <a:ext cx="8096250" cy="1905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8100" rIns="38100" tIns="38100" bIns="38100">
            <a:normAutofit/>
          </a:bodyPr>
          <a:lstStyle/>
          <a:p>
            <a:pPr algn="l"/>
            <a:lnSpc>
              <a:spcPct val="112000"/>
            </a:lnSpc>
            <a:r>
              <a:rPr lang="vi-VN" sz="1000" b="0" i="0" dirty="0">
                <a:solidFill>
                  <a:srgbClr val="617A75"/>
                </a:solidFill>
                <a:latin typeface="Arial"/>
                <a:ea typeface="Arial"/>
              </a:rPr>
              <a:t xml:space="preserve">OGK  /  Prototype học tập  /  Tuần 1–3</a:t>
            </a:r>
            <a:endParaRPr lang="vi-VN" sz="1000"/>
          </a:p>
        </p:txBody>
      </p:sp>
      <p:sp>
        <p:nvSpPr>
          <p:cNvPr id="8" name="Shape 8"/>
          <p:cNvSpPr/>
          <p:nvPr/>
        </p:nvSpPr>
        <p:spPr>
          <a:xfrm>
            <a:off x="11049000" y="6419850"/>
            <a:ext cx="476250" cy="209550"/>
          </a:xfrm>
          <a:prstGeom prst="rect">
            <a:avLst/>
          </a:prstGeom>
          <a:noFill/>
          <a:ln>
            <a:noFill/>
          </a:ln>
        </p:spPr>
        <p:txBody>
          <a:bodyPr wrap="square" anchor="ctr" lIns="38100" rIns="38100" tIns="38100" bIns="38100">
            <a:normAutofit/>
          </a:bodyPr>
          <a:lstStyle/>
          <a:p>
            <a:pPr algn="r"/>
            <a:lnSpc>
              <a:spcPct val="112000"/>
            </a:lnSpc>
            <a:r>
              <a:rPr lang="vi-VN" sz="1100" b="1" i="0" dirty="0">
                <a:solidFill>
                  <a:srgbClr val="168878"/>
                </a:solidFill>
                <a:latin typeface="Arial"/>
                <a:ea typeface="Arial"/>
              </a:rPr>
              <a:t xml:space="preserve">03</a:t>
            </a:r>
            <a:endParaRPr lang="vi-VN" sz="1100"/>
          </a:p>
        </p:txBody>
      </p:sp>
      <p:sp>
        <p:nvSpPr>
          <p:cNvPr id="9" name="Shape 9"/>
          <p:cNvSpPr/>
          <p:nvPr/>
        </p:nvSpPr>
        <p:spPr>
          <a:xfrm>
            <a:off x="609600" y="1438275"/>
            <a:ext cx="104775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8100" rIns="38100" tIns="38100" bIns="38100">
            <a:normAutofit/>
          </a:bodyPr>
          <a:lstStyle/>
          <a:p>
            <a:pPr algn="l"/>
            <a:lnSpc>
              <a:spcPct val="112000"/>
            </a:lnSpc>
            <a:r>
              <a:rPr lang="vi-VN" sz="1600" b="0" i="0" dirty="0">
                <a:solidFill>
                  <a:srgbClr val="617A75"/>
                </a:solidFill>
                <a:latin typeface="Arial"/>
                <a:ea typeface="Arial"/>
              </a:rPr>
              <a:t xml:space="preserve">Policy đi xuống agent; event đi ngược về server để tổng hợp báo cáo.</a:t>
            </a:r>
            <a:endParaRPr lang="vi-VN" sz="1600"/>
          </a:p>
        </p:txBody>
      </p:sp>
      <p:sp>
        <p:nvSpPr>
          <p:cNvPr id="10" name="Shape 10"/>
          <p:cNvSpPr/>
          <p:nvPr/>
        </p:nvSpPr>
        <p:spPr>
          <a:xfrm>
            <a:off x="666750" y="2333625"/>
            <a:ext cx="2305050" cy="19431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5DE"/>
            </a:solidFill>
          </a:ln>
        </p:spPr>
      </p:sp>
      <p:sp>
        <p:nvSpPr>
          <p:cNvPr id="11" name="Shape 11"/>
          <p:cNvSpPr/>
          <p:nvPr/>
        </p:nvSpPr>
        <p:spPr>
          <a:xfrm>
            <a:off x="895350" y="2571750"/>
            <a:ext cx="1847850" cy="333375"/>
          </a:xfrm>
          <a:prstGeom prst="rect">
            <a:avLst/>
          </a:prstGeom>
          <a:noFill/>
          <a:ln>
            <a:noFill/>
          </a:ln>
        </p:spPr>
        <p:txBody>
          <a:bodyPr wrap="square" anchor="ctr" lIns="38100" rIns="38100" tIns="38100" bIns="38100">
            <a:normAutofit/>
          </a:bodyPr>
          <a:lstStyle/>
          <a:p>
            <a:pPr algn="ctr"/>
            <a:lnSpc>
              <a:spcPct val="112000"/>
            </a:lnSpc>
            <a:r>
              <a:rPr lang="vi-VN" sz="1500" b="1" i="0" dirty="0">
                <a:solidFill>
                  <a:srgbClr val="168878"/>
                </a:solidFill>
                <a:latin typeface="Arial"/>
                <a:ea typeface="Arial"/>
              </a:rPr>
              <a:t xml:space="preserve">DASHBOARD</a:t>
            </a:r>
            <a:endParaRPr lang="vi-VN" sz="1500"/>
          </a:p>
        </p:txBody>
      </p:sp>
      <p:sp>
        <p:nvSpPr>
          <p:cNvPr id="12" name="Shape 12"/>
          <p:cNvSpPr/>
          <p:nvPr/>
        </p:nvSpPr>
        <p:spPr>
          <a:xfrm>
            <a:off x="914400" y="3048000"/>
            <a:ext cx="1809750" cy="857250"/>
          </a:xfrm>
          <a:prstGeom prst="rect">
            <a:avLst/>
          </a:prstGeom>
          <a:noFill/>
          <a:ln>
            <a:noFill/>
          </a:ln>
        </p:spPr>
        <p:txBody>
          <a:bodyPr wrap="square" anchor="ctr" lIns="38100" rIns="38100" tIns="38100" bIns="38100">
            <a:normAutofit/>
          </a:bodyPr>
          <a:lstStyle/>
          <a:p>
            <a:pPr algn="ctr"/>
            <a:lnSpc>
              <a:spcPct val="112000"/>
            </a:lnSpc>
            <a:r>
              <a:rPr lang="vi-VN" sz="1800" b="1" i="0" dirty="0">
                <a:solidFill>
                  <a:srgbClr val="123B38"/>
                </a:solidFill>
                <a:latin typeface="Arial"/>
                <a:ea typeface="Arial"/>
              </a:rPr>
              <a:t xml:space="preserve">Phụ huynh</a:t>
            </a:r>
            <a:endParaRPr lang="vi-VN" sz="1800"/>
          </a:p>
          <a:p>
            <a:pPr algn="ctr"/>
            <a:lnSpc>
              <a:spcPct val="112000"/>
            </a:lnSpc>
            <a:r>
              <a:rPr lang="vi-VN" sz="1800" b="1" i="0" dirty="0">
                <a:solidFill>
                  <a:srgbClr val="123B38"/>
                </a:solidFill>
                <a:latin typeface="Arial"/>
                <a:ea typeface="Arial"/>
              </a:rPr>
              <a:t xml:space="preserve">Policy · thiết bị</a:t>
            </a:r>
            <a:endParaRPr lang="vi-VN" sz="1800"/>
          </a:p>
          <a:p>
            <a:pPr algn="ctr"/>
            <a:lnSpc>
              <a:spcPct val="112000"/>
            </a:lnSpc>
            <a:r>
              <a:rPr lang="vi-VN" sz="1800" b="1" i="0" dirty="0">
                <a:solidFill>
                  <a:srgbClr val="123B38"/>
                </a:solidFill>
                <a:latin typeface="Arial"/>
                <a:ea typeface="Arial"/>
              </a:rPr>
              <a:t xml:space="preserve">Báo cáo · yêu cầu</a:t>
            </a:r>
            <a:endParaRPr lang="vi-VN" sz="1800"/>
          </a:p>
        </p:txBody>
      </p:sp>
      <p:sp>
        <p:nvSpPr>
          <p:cNvPr id="13" name="Shape 13"/>
          <p:cNvSpPr/>
          <p:nvPr/>
        </p:nvSpPr>
        <p:spPr>
          <a:xfrm>
            <a:off x="4791075" y="2095500"/>
            <a:ext cx="2686050" cy="2438400"/>
          </a:xfrm>
          <a:prstGeom prst="roundRect">
            <a:avLst/>
          </a:prstGeom>
          <a:solidFill>
            <a:srgbClr val="123B38"/>
          </a:solidFill>
          <a:ln w="12700">
            <a:solidFill>
              <a:srgbClr val="123B38"/>
            </a:solidFill>
          </a:ln>
        </p:spPr>
      </p:sp>
      <p:sp>
        <p:nvSpPr>
          <p:cNvPr id="14" name="Shape 14"/>
          <p:cNvSpPr/>
          <p:nvPr/>
        </p:nvSpPr>
        <p:spPr>
          <a:xfrm>
            <a:off x="5067300" y="2371725"/>
            <a:ext cx="2133600" cy="333375"/>
          </a:xfrm>
          <a:prstGeom prst="rect">
            <a:avLst/>
          </a:prstGeom>
          <a:noFill/>
          <a:ln>
            <a:noFill/>
          </a:ln>
        </p:spPr>
        <p:txBody>
          <a:bodyPr wrap="square" anchor="ctr" lIns="38100" rIns="38100" tIns="38100" bIns="38100">
            <a:normAutofit/>
          </a:bodyPr>
          <a:lstStyle/>
          <a:p>
            <a:pPr algn="ctr"/>
            <a:lnSpc>
              <a:spcPct val="112000"/>
            </a:lnSpc>
            <a:r>
              <a:rPr lang="vi-VN" sz="1600" b="1" i="0" dirty="0">
                <a:solidFill>
                  <a:srgbClr val="B5DED0"/>
                </a:solidFill>
                <a:latin typeface="Arial"/>
                <a:ea typeface="Arial"/>
              </a:rPr>
              <a:t xml:space="preserve">FASTAPI + SQLITE</a:t>
            </a:r>
            <a:endParaRPr lang="vi-VN" sz="1600"/>
          </a:p>
        </p:txBody>
      </p:sp>
      <p:sp>
        <p:nvSpPr>
          <p:cNvPr id="15" name="Shape 15"/>
          <p:cNvSpPr/>
          <p:nvPr/>
        </p:nvSpPr>
        <p:spPr>
          <a:xfrm>
            <a:off x="5029200" y="2914650"/>
            <a:ext cx="2200275" cy="1095375"/>
          </a:xfrm>
          <a:prstGeom prst="rect">
            <a:avLst/>
          </a:prstGeom>
          <a:noFill/>
          <a:ln>
            <a:noFill/>
          </a:ln>
        </p:spPr>
        <p:txBody>
          <a:bodyPr wrap="square" anchor="ctr" lIns="38100" rIns="38100" tIns="38100" bIns="38100">
            <a:normAutofit/>
          </a:bodyPr>
          <a:lstStyle/>
          <a:p>
            <a:pPr algn="ctr"/>
            <a:lnSpc>
              <a:spcPct val="112000"/>
            </a:lnSpc>
            <a:r>
              <a:rPr lang="vi-VN" sz="1800" b="1" i="0" dirty="0">
                <a:solidFill>
                  <a:srgbClr val="FFFFFF"/>
                </a:solidFill>
                <a:latin typeface="Arial"/>
                <a:ea typeface="Arial"/>
              </a:rPr>
              <a:t xml:space="preserve">API và lưu trữ</a:t>
            </a:r>
            <a:endParaRPr lang="vi-VN" sz="1800"/>
          </a:p>
          <a:p>
            <a:pPr algn="ctr"/>
            <a:lnSpc>
              <a:spcPct val="112000"/>
            </a:lnSpc>
            <a:r>
              <a:rPr lang="vi-VN" sz="1800" b="1" i="0" dirty="0">
                <a:solidFill>
                  <a:srgbClr val="FFFFFF"/>
                </a:solidFill>
                <a:latin typeface="Arial"/>
                <a:ea typeface="Arial"/>
              </a:rPr>
              <a:t xml:space="preserve">Device · Policy</a:t>
            </a:r>
            <a:endParaRPr lang="vi-VN" sz="1800"/>
          </a:p>
          <a:p>
            <a:pPr algn="ctr"/>
            <a:lnSpc>
              <a:spcPct val="112000"/>
            </a:lnSpc>
            <a:r>
              <a:rPr lang="vi-VN" sz="1800" b="1" i="0" dirty="0">
                <a:solidFill>
                  <a:srgbClr val="FFFFFF"/>
                </a:solidFill>
                <a:latin typeface="Arial"/>
                <a:ea typeface="Arial"/>
              </a:rPr>
              <a:t xml:space="preserve">Event · ChildRequest</a:t>
            </a:r>
            <a:endParaRPr lang="vi-VN" sz="1800"/>
          </a:p>
        </p:txBody>
      </p:sp>
      <p:sp>
        <p:nvSpPr>
          <p:cNvPr id="16" name="Shape 16"/>
          <p:cNvSpPr/>
          <p:nvPr/>
        </p:nvSpPr>
        <p:spPr>
          <a:xfrm>
            <a:off x="9296400" y="2333625"/>
            <a:ext cx="2305050" cy="19431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5DE"/>
            </a:solidFill>
          </a:ln>
        </p:spPr>
      </p:sp>
      <p:sp>
        <p:nvSpPr>
          <p:cNvPr id="17" name="Shape 17"/>
          <p:cNvSpPr/>
          <p:nvPr/>
        </p:nvSpPr>
        <p:spPr>
          <a:xfrm>
            <a:off x="9544050" y="2571750"/>
            <a:ext cx="1809750" cy="333375"/>
          </a:xfrm>
          <a:prstGeom prst="rect">
            <a:avLst/>
          </a:prstGeom>
          <a:noFill/>
          <a:ln>
            <a:noFill/>
          </a:ln>
        </p:spPr>
        <p:txBody>
          <a:bodyPr wrap="square" anchor="ctr" lIns="38100" rIns="38100" tIns="38100" bIns="38100">
            <a:normAutofit/>
          </a:bodyPr>
          <a:lstStyle/>
          <a:p>
            <a:pPr algn="ctr"/>
            <a:lnSpc>
              <a:spcPct val="112000"/>
            </a:lnSpc>
            <a:r>
              <a:rPr lang="vi-VN" sz="1500" b="1" i="0" dirty="0">
                <a:solidFill>
                  <a:srgbClr val="168878"/>
                </a:solidFill>
                <a:latin typeface="Arial"/>
                <a:ea typeface="Arial"/>
              </a:rPr>
              <a:t xml:space="preserve">AGENT</a:t>
            </a:r>
            <a:endParaRPr lang="vi-VN" sz="1500"/>
          </a:p>
        </p:txBody>
      </p:sp>
      <p:sp>
        <p:nvSpPr>
          <p:cNvPr id="18" name="Shape 18"/>
          <p:cNvSpPr/>
          <p:nvPr/>
        </p:nvSpPr>
        <p:spPr>
          <a:xfrm>
            <a:off x="9496425" y="3048000"/>
            <a:ext cx="1905000" cy="857250"/>
          </a:xfrm>
          <a:prstGeom prst="rect">
            <a:avLst/>
          </a:prstGeom>
          <a:noFill/>
          <a:ln>
            <a:noFill/>
          </a:ln>
        </p:spPr>
        <p:txBody>
          <a:bodyPr wrap="square" anchor="ctr" lIns="38100" rIns="38100" tIns="38100" bIns="38100">
            <a:normAutofit/>
          </a:bodyPr>
          <a:lstStyle/>
          <a:p>
            <a:pPr algn="ctr"/>
            <a:lnSpc>
              <a:spcPct val="112000"/>
            </a:lnSpc>
            <a:r>
              <a:rPr lang="vi-VN" sz="1800" b="1" i="0" dirty="0">
                <a:solidFill>
                  <a:srgbClr val="123B38"/>
                </a:solidFill>
                <a:latin typeface="Arial"/>
                <a:ea typeface="Arial"/>
              </a:rPr>
              <a:t xml:space="preserve">Máy demo</a:t>
            </a:r>
            <a:endParaRPr lang="vi-VN" sz="1800"/>
          </a:p>
          <a:p>
            <a:pPr algn="ctr"/>
            <a:lnSpc>
              <a:spcPct val="112000"/>
            </a:lnSpc>
            <a:r>
              <a:rPr lang="vi-VN" sz="1800" b="1" i="0" dirty="0">
                <a:solidFill>
                  <a:srgbClr val="123B38"/>
                </a:solidFill>
                <a:latin typeface="Arial"/>
                <a:ea typeface="Arial"/>
              </a:rPr>
              <a:t xml:space="preserve">Quota · lịch</a:t>
            </a:r>
            <a:endParaRPr lang="vi-VN" sz="1800"/>
          </a:p>
          <a:p>
            <a:pPr algn="ctr"/>
            <a:lnSpc>
              <a:spcPct val="112000"/>
            </a:lnSpc>
            <a:r>
              <a:rPr lang="vi-VN" sz="1800" b="1" i="0" dirty="0">
                <a:solidFill>
                  <a:srgbClr val="123B38"/>
                </a:solidFill>
                <a:latin typeface="Arial"/>
                <a:ea typeface="Arial"/>
              </a:rPr>
              <a:t xml:space="preserve">App/DNS opt-in</a:t>
            </a:r>
            <a:endParaRPr lang="vi-VN" sz="1800"/>
          </a:p>
        </p:txBody>
      </p:sp>
      <p:cxnSp>
        <p:nvCxnSpPr>
          <p:cNvPr id="19" name="Connector 19"/>
          <p:cNvCxnSpPr/>
          <p:nvPr/>
        </p:nvCxnSpPr>
        <p:spPr>
          <a:xfrm>
            <a:off x="2971800" y="3000375"/>
            <a:ext cx="1819275" cy="0"/>
          </a:xfrm>
          <a:prstGeom prst="line">
            <a:avLst/>
          </a:prstGeom>
          <a:ln w="38100">
            <a:solidFill>
              <a:srgbClr val="168878"/>
            </a:solidFill>
            <a:tailEnd type="none"/>
            <a:headEnd type="triangle"/>
          </a:ln>
        </p:spPr>
      </p:cxnSp>
      <p:sp>
        <p:nvSpPr>
          <p:cNvPr id="20" name="Shape 20"/>
          <p:cNvSpPr/>
          <p:nvPr/>
        </p:nvSpPr>
        <p:spPr>
          <a:xfrm>
            <a:off x="3162300" y="2638425"/>
            <a:ext cx="1524000" cy="238125"/>
          </a:xfrm>
          <a:prstGeom prst="rect">
            <a:avLst/>
          </a:prstGeom>
          <a:noFill/>
          <a:ln>
            <a:noFill/>
          </a:ln>
        </p:spPr>
        <p:txBody>
          <a:bodyPr wrap="square" anchor="ctr" lIns="38100" rIns="38100" tIns="38100" bIns="38100">
            <a:normAutofit/>
          </a:bodyPr>
          <a:lstStyle/>
          <a:p>
            <a:pPr algn="ctr"/>
            <a:lnSpc>
              <a:spcPct val="112000"/>
            </a:lnSpc>
            <a:r>
              <a:rPr lang="vi-VN" sz="1200" b="1" i="0" dirty="0">
                <a:solidFill>
                  <a:srgbClr val="168878"/>
                </a:solidFill>
                <a:latin typeface="Arial"/>
                <a:ea typeface="Arial"/>
              </a:rPr>
              <a:t xml:space="preserve">PUT policy</a:t>
            </a:r>
            <a:endParaRPr lang="vi-VN" sz="1200"/>
          </a:p>
        </p:txBody>
      </p:sp>
      <p:cxnSp>
        <p:nvCxnSpPr>
          <p:cNvPr id="21" name="Connector 21"/>
          <p:cNvCxnSpPr/>
          <p:nvPr/>
        </p:nvCxnSpPr>
        <p:spPr>
          <a:xfrm>
            <a:off x="7477125" y="3781425"/>
            <a:ext cx="1819275" cy="0"/>
          </a:xfrm>
          <a:prstGeom prst="line">
            <a:avLst/>
          </a:prstGeom>
          <a:ln w="38100">
            <a:solidFill>
              <a:srgbClr val="E9AC51"/>
            </a:solidFill>
            <a:tailEnd type="none"/>
            <a:headEnd type="triangle"/>
          </a:ln>
        </p:spPr>
      </p:cxnSp>
      <p:sp>
        <p:nvSpPr>
          <p:cNvPr id="22" name="Shape 22"/>
          <p:cNvSpPr/>
          <p:nvPr/>
        </p:nvSpPr>
        <p:spPr>
          <a:xfrm>
            <a:off x="7772400" y="3905250"/>
            <a:ext cx="1371600" cy="238125"/>
          </a:xfrm>
          <a:prstGeom prst="rect">
            <a:avLst/>
          </a:prstGeom>
          <a:noFill/>
          <a:ln>
            <a:noFill/>
          </a:ln>
        </p:spPr>
        <p:txBody>
          <a:bodyPr wrap="square" anchor="ctr" lIns="38100" rIns="38100" tIns="38100" bIns="38100">
            <a:normAutofit/>
          </a:bodyPr>
          <a:lstStyle/>
          <a:p>
            <a:pPr algn="ctr"/>
            <a:lnSpc>
              <a:spcPct val="112000"/>
            </a:lnSpc>
            <a:r>
              <a:rPr lang="vi-VN" sz="1200" b="1" i="0" dirty="0">
                <a:solidFill>
                  <a:srgbClr val="A36B17"/>
                </a:solidFill>
                <a:latin typeface="Arial"/>
                <a:ea typeface="Arial"/>
              </a:rPr>
              <a:t xml:space="preserve">Heartbeat</a:t>
            </a:r>
            <a:endParaRPr lang="vi-VN" sz="1200"/>
          </a:p>
        </p:txBody>
      </p:sp>
      <p:cxnSp>
        <p:nvCxnSpPr>
          <p:cNvPr id="23" name="Connector 23"/>
          <p:cNvCxnSpPr/>
          <p:nvPr/>
        </p:nvCxnSpPr>
        <p:spPr>
          <a:xfrm flipH="1">
            <a:off x="7477125" y="2809875"/>
            <a:ext cx="1819275" cy="0"/>
          </a:xfrm>
          <a:prstGeom prst="line">
            <a:avLst/>
          </a:prstGeom>
          <a:ln w="38100">
            <a:solidFill>
              <a:srgbClr val="48B89A"/>
            </a:solidFill>
            <a:tailEnd type="none"/>
            <a:headEnd type="triangle"/>
          </a:ln>
        </p:spPr>
      </p:cxnSp>
      <p:sp>
        <p:nvSpPr>
          <p:cNvPr id="24" name="Shape 24"/>
          <p:cNvSpPr/>
          <p:nvPr/>
        </p:nvSpPr>
        <p:spPr>
          <a:xfrm>
            <a:off x="7762875" y="2457450"/>
            <a:ext cx="1428750" cy="238125"/>
          </a:xfrm>
          <a:prstGeom prst="rect">
            <a:avLst/>
          </a:prstGeom>
          <a:noFill/>
          <a:ln>
            <a:noFill/>
          </a:ln>
        </p:spPr>
        <p:txBody>
          <a:bodyPr wrap="square" anchor="ctr" lIns="38100" rIns="38100" tIns="38100" bIns="38100">
            <a:normAutofit/>
          </a:bodyPr>
          <a:lstStyle/>
          <a:p>
            <a:pPr algn="ctr"/>
            <a:lnSpc>
              <a:spcPct val="112000"/>
            </a:lnSpc>
            <a:r>
              <a:rPr lang="vi-VN" sz="1200" b="1" i="0" dirty="0">
                <a:solidFill>
                  <a:srgbClr val="168878"/>
                </a:solidFill>
                <a:latin typeface="Arial"/>
                <a:ea typeface="Arial"/>
              </a:rPr>
              <a:t xml:space="preserve">Policy + chữ ký</a:t>
            </a:r>
            <a:endParaRPr lang="vi-VN" sz="1200"/>
          </a:p>
        </p:txBody>
      </p:sp>
      <p:cxnSp>
        <p:nvCxnSpPr>
          <p:cNvPr id="25" name="Connector 25"/>
          <p:cNvCxnSpPr/>
          <p:nvPr/>
        </p:nvCxnSpPr>
        <p:spPr>
          <a:xfrm flipH="1">
            <a:off x="2971800" y="4000500"/>
            <a:ext cx="1819275" cy="0"/>
          </a:xfrm>
          <a:prstGeom prst="line">
            <a:avLst/>
          </a:prstGeom>
          <a:ln w="25400">
            <a:solidFill>
              <a:srgbClr val="617A75"/>
            </a:solidFill>
            <a:tailEnd type="none"/>
            <a:headEnd type="triangle"/>
          </a:ln>
        </p:spPr>
      </p:cxnSp>
      <p:sp>
        <p:nvSpPr>
          <p:cNvPr id="26" name="Shape 26"/>
          <p:cNvSpPr/>
          <p:nvPr/>
        </p:nvSpPr>
        <p:spPr>
          <a:xfrm>
            <a:off x="3171825" y="4057650"/>
            <a:ext cx="1504950" cy="238125"/>
          </a:xfrm>
          <a:prstGeom prst="rect">
            <a:avLst/>
          </a:prstGeom>
          <a:noFill/>
          <a:ln>
            <a:noFill/>
          </a:ln>
        </p:spPr>
        <p:txBody>
          <a:bodyPr wrap="square" anchor="ctr" lIns="38100" rIns="38100" tIns="38100" bIns="38100">
            <a:normAutofit/>
          </a:bodyPr>
          <a:lstStyle/>
          <a:p>
            <a:pPr algn="ctr"/>
            <a:lnSpc>
              <a:spcPct val="112000"/>
            </a:lnSpc>
            <a:r>
              <a:rPr lang="vi-VN" sz="1100" b="1" i="0" dirty="0">
                <a:solidFill>
                  <a:srgbClr val="617A75"/>
                </a:solidFill>
                <a:latin typeface="Arial"/>
                <a:ea typeface="Arial"/>
              </a:rPr>
              <a:t xml:space="preserve">Events / reports</a:t>
            </a:r>
            <a:endParaRPr lang="vi-VN" sz="1100"/>
          </a:p>
        </p:txBody>
      </p:sp>
      <p:sp>
        <p:nvSpPr>
          <p:cNvPr id="27" name="Shape 27"/>
          <p:cNvSpPr/>
          <p:nvPr/>
        </p:nvSpPr>
        <p:spPr>
          <a:xfrm>
            <a:off x="666750" y="5095875"/>
            <a:ext cx="10572750" cy="523875"/>
          </a:xfrm>
          <a:prstGeom prst="rect">
            <a:avLst/>
          </a:prstGeom>
          <a:noFill/>
          <a:ln>
            <a:noFill/>
          </a:ln>
        </p:spPr>
        <p:txBody>
          <a:bodyPr wrap="square" anchor="top" lIns="38100" rIns="38100" tIns="38100" bIns="38100">
            <a:normAutofit/>
          </a:bodyPr>
          <a:lstStyle/>
          <a:p>
            <a:pPr algn="l"/>
            <a:lnSpc>
              <a:spcPct val="112000"/>
            </a:lnSpc>
            <a:r>
              <a:rPr lang="vi-VN" sz="1500" b="0" i="0" dirty="0">
                <a:solidFill>
                  <a:srgbClr val="617A75"/>
                </a:solidFill>
                <a:latin typeface="Arial"/>
                <a:ea typeface="Arial"/>
              </a:rPr>
              <a:t xml:space="preserve">DNS proxy chỉ bind 127.0.0.1:5353; không tự đổi DNS hệ thống. Agent chạy user mode trong prototype.</a:t>
            </a:r>
            <a:endParaRPr lang="vi-VN" sz="15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7F2"/>
          </a:solidFill>
          <a:ln>
            <a:noFill/>
          </a:ln>
        </p:spPr>
      </p:sp>
      <p:sp>
        <p:nvSpPr>
          <p:cNvPr id="3" name="Shape 3"/>
          <p:cNvSpPr/>
          <p:nvPr/>
        </p:nvSpPr>
        <p:spPr>
          <a:xfrm>
            <a:off x="0" y="0"/>
            <a:ext cx="133350" cy="6858000"/>
          </a:xfrm>
          <a:prstGeom prst="rect">
            <a:avLst/>
          </a:prstGeom>
          <a:solidFill>
            <a:srgbClr val="168878"/>
          </a:solidFill>
          <a:ln>
            <a:noFill/>
          </a:ln>
        </p:spPr>
      </p:sp>
      <p:sp>
        <p:nvSpPr>
          <p:cNvPr id="4" name="Shape 4"/>
          <p:cNvSpPr/>
          <p:nvPr/>
        </p:nvSpPr>
        <p:spPr>
          <a:xfrm>
            <a:off x="609600" y="323850"/>
            <a:ext cx="9525000" cy="238125"/>
          </a:xfrm>
          <a:prstGeom prst="rect">
            <a:avLst/>
          </a:prstGeom>
          <a:noFill/>
          <a:ln>
            <a:noFill/>
          </a:ln>
        </p:spPr>
        <p:txBody>
          <a:bodyPr wrap="square" anchor="ctr" lIns="38100" rIns="38100" tIns="38100" bIns="38100">
            <a:normAutofit/>
          </a:bodyPr>
          <a:lstStyle/>
          <a:p>
            <a:pPr algn="l"/>
            <a:lnSpc>
              <a:spcPct val="112000"/>
            </a:lnSpc>
            <a:r>
              <a:rPr lang="vi-VN" sz="1200" b="1" i="0" dirty="0">
                <a:solidFill>
                  <a:srgbClr val="168878"/>
                </a:solidFill>
                <a:latin typeface="Arial"/>
                <a:ea typeface="Arial"/>
              </a:rPr>
              <a:t xml:space="preserve">03  /  KẾT QUẢ</a:t>
            </a:r>
            <a:endParaRPr lang="vi-VN" sz="1200"/>
          </a:p>
        </p:txBody>
      </p:sp>
      <p:sp>
        <p:nvSpPr>
          <p:cNvPr id="5" name="Shape 5"/>
          <p:cNvSpPr/>
          <p:nvPr/>
        </p:nvSpPr>
        <p:spPr>
          <a:xfrm>
            <a:off x="609600" y="600075"/>
            <a:ext cx="10668000" cy="514350"/>
          </a:xfrm>
          <a:prstGeom prst="rect">
            <a:avLst/>
          </a:prstGeom>
          <a:noFill/>
          <a:ln>
            <a:noFill/>
          </a:ln>
        </p:spPr>
        <p:txBody>
          <a:bodyPr wrap="square" anchor="ctr" lIns="38100" rIns="38100" tIns="38100" bIns="38100">
            <a:normAutofit/>
          </a:bodyPr>
          <a:lstStyle/>
          <a:p>
            <a:pPr algn="l"/>
            <a:lnSpc>
              <a:spcPct val="112000"/>
            </a:lnSpc>
            <a:r>
              <a:rPr lang="vi-VN" sz="3100" b="1" i="0" dirty="0">
                <a:solidFill>
                  <a:srgbClr val="123B38"/>
                </a:solidFill>
                <a:latin typeface="Arial"/>
                <a:ea typeface="Arial"/>
              </a:rPr>
              <a:t xml:space="preserve">Tiến độ theo tuần</a:t>
            </a:r>
            <a:endParaRPr lang="vi-VN" sz="3100"/>
          </a:p>
        </p:txBody>
      </p:sp>
      <p:sp>
        <p:nvSpPr>
          <p:cNvPr id="6" name="Shape 6"/>
          <p:cNvSpPr/>
          <p:nvPr/>
        </p:nvSpPr>
        <p:spPr>
          <a:xfrm>
            <a:off x="609600" y="1219200"/>
            <a:ext cx="10953750" cy="9525"/>
          </a:xfrm>
          <a:prstGeom prst="rect">
            <a:avLst/>
          </a:prstGeom>
          <a:solidFill>
            <a:srgbClr val="D9E7E0"/>
          </a:solidFill>
          <a:ln>
            <a:noFill/>
          </a:ln>
        </p:spPr>
      </p:sp>
      <p:sp>
        <p:nvSpPr>
          <p:cNvPr id="7" name="Shape 7"/>
          <p:cNvSpPr/>
          <p:nvPr/>
        </p:nvSpPr>
        <p:spPr>
          <a:xfrm>
            <a:off x="609600" y="6438900"/>
            <a:ext cx="8096250" cy="1905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8100" rIns="38100" tIns="38100" bIns="38100">
            <a:normAutofit/>
          </a:bodyPr>
          <a:lstStyle/>
          <a:p>
            <a:pPr algn="l"/>
            <a:lnSpc>
              <a:spcPct val="112000"/>
            </a:lnSpc>
            <a:r>
              <a:rPr lang="vi-VN" sz="1000" b="0" i="0" dirty="0">
                <a:solidFill>
                  <a:srgbClr val="617A75"/>
                </a:solidFill>
                <a:latin typeface="Arial"/>
                <a:ea typeface="Arial"/>
              </a:rPr>
              <a:t xml:space="preserve">OGK  /  Prototype học tập  /  Tuần 1–3</a:t>
            </a:r>
            <a:endParaRPr lang="vi-VN" sz="1000"/>
          </a:p>
        </p:txBody>
      </p:sp>
      <p:sp>
        <p:nvSpPr>
          <p:cNvPr id="8" name="Shape 8"/>
          <p:cNvSpPr/>
          <p:nvPr/>
        </p:nvSpPr>
        <p:spPr>
          <a:xfrm>
            <a:off x="11049000" y="6419850"/>
            <a:ext cx="476250" cy="209550"/>
          </a:xfrm>
          <a:prstGeom prst="rect">
            <a:avLst/>
          </a:prstGeom>
          <a:noFill/>
          <a:ln>
            <a:noFill/>
          </a:ln>
        </p:spPr>
        <p:txBody>
          <a:bodyPr wrap="square" anchor="ctr" lIns="38100" rIns="38100" tIns="38100" bIns="38100">
            <a:normAutofit/>
          </a:bodyPr>
          <a:lstStyle/>
          <a:p>
            <a:pPr algn="r"/>
            <a:lnSpc>
              <a:spcPct val="112000"/>
            </a:lnSpc>
            <a:r>
              <a:rPr lang="vi-VN" sz="1100" b="1" i="0" dirty="0">
                <a:solidFill>
                  <a:srgbClr val="168878"/>
                </a:solidFill>
                <a:latin typeface="Arial"/>
                <a:ea typeface="Arial"/>
              </a:rPr>
              <a:t xml:space="preserve">04</a:t>
            </a:r>
            <a:endParaRPr lang="vi-VN" sz="1100"/>
          </a:p>
        </p:txBody>
      </p:sp>
      <p:sp>
        <p:nvSpPr>
          <p:cNvPr id="9" name="Shape 9"/>
          <p:cNvSpPr/>
          <p:nvPr/>
        </p:nvSpPr>
        <p:spPr>
          <a:xfrm>
            <a:off x="685800" y="1657350"/>
            <a:ext cx="666750" cy="66675"/>
          </a:xfrm>
          <a:prstGeom prst="rect">
            <a:avLst/>
          </a:prstGeom>
          <a:solidFill>
            <a:srgbClr val="168878"/>
          </a:solidFill>
          <a:ln>
            <a:noFill/>
          </a:ln>
        </p:spPr>
      </p:sp>
      <p:sp>
        <p:nvSpPr>
          <p:cNvPr id="10" name="Shape 10"/>
          <p:cNvSpPr/>
          <p:nvPr/>
        </p:nvSpPr>
        <p:spPr>
          <a:xfrm>
            <a:off x="685800" y="1885950"/>
            <a:ext cx="2762250" cy="238125"/>
          </a:xfrm>
          <a:prstGeom prst="rect">
            <a:avLst/>
          </a:prstGeom>
          <a:noFill/>
          <a:ln>
            <a:noFill/>
          </a:ln>
        </p:spPr>
        <p:txBody>
          <a:bodyPr wrap="square" anchor="ctr" lIns="38100" rIns="38100" tIns="38100" bIns="38100">
            <a:normAutofit/>
          </a:bodyPr>
          <a:lstStyle/>
          <a:p>
            <a:pPr algn="l"/>
            <a:lnSpc>
              <a:spcPct val="112000"/>
            </a:lnSpc>
            <a:r>
              <a:rPr lang="vi-VN" sz="1300" b="1" i="0" dirty="0">
                <a:solidFill>
                  <a:srgbClr val="168878"/>
                </a:solidFill>
                <a:latin typeface="Arial"/>
                <a:ea typeface="Arial"/>
              </a:rPr>
              <a:t xml:space="preserve">TUẦN 1</a:t>
            </a:r>
            <a:endParaRPr lang="vi-VN" sz="1300"/>
          </a:p>
        </p:txBody>
      </p:sp>
      <p:sp>
        <p:nvSpPr>
          <p:cNvPr id="11" name="Shape 11"/>
          <p:cNvSpPr/>
          <p:nvPr/>
        </p:nvSpPr>
        <p:spPr>
          <a:xfrm>
            <a:off x="685800" y="2228850"/>
            <a:ext cx="3048000" cy="409575"/>
          </a:xfrm>
          <a:prstGeom prst="rect">
            <a:avLst/>
          </a:prstGeom>
          <a:noFill/>
          <a:ln>
            <a:noFill/>
          </a:ln>
        </p:spPr>
        <p:txBody>
          <a:bodyPr wrap="square" anchor="ctr" lIns="38100" rIns="38100" tIns="38100" bIns="38100">
            <a:normAutofit/>
          </a:bodyPr>
          <a:lstStyle/>
          <a:p>
            <a:pPr algn="l"/>
            <a:lnSpc>
              <a:spcPct val="112000"/>
            </a:lnSpc>
            <a:r>
              <a:rPr lang="vi-VN" sz="2400" b="1" i="0" dirty="0">
                <a:solidFill>
                  <a:srgbClr val="123B38"/>
                </a:solidFill>
                <a:latin typeface="Arial"/>
                <a:ea typeface="Arial"/>
              </a:rPr>
              <a:t xml:space="preserve">Nền tảng</a:t>
            </a:r>
            <a:endParaRPr lang="vi-VN" sz="2400"/>
          </a:p>
        </p:txBody>
      </p:sp>
      <p:sp>
        <p:nvSpPr>
          <p:cNvPr id="12" name="Shape 12"/>
          <p:cNvSpPr/>
          <p:nvPr/>
        </p:nvSpPr>
        <p:spPr>
          <a:xfrm>
            <a:off x="704850" y="2943225"/>
            <a:ext cx="76200" cy="76200"/>
          </a:xfrm>
          <a:prstGeom prst="ellipse">
            <a:avLst/>
          </a:prstGeom>
          <a:solidFill>
            <a:srgbClr val="168878"/>
          </a:solidFill>
          <a:ln>
            <a:noFill/>
          </a:ln>
        </p:spPr>
      </p:sp>
      <p:sp>
        <p:nvSpPr>
          <p:cNvPr id="13" name="Shape 13"/>
          <p:cNvSpPr/>
          <p:nvPr/>
        </p:nvSpPr>
        <p:spPr>
          <a:xfrm>
            <a:off x="895350" y="2819400"/>
            <a:ext cx="3028950" cy="400050"/>
          </a:xfrm>
          <a:prstGeom prst="rect">
            <a:avLst/>
          </a:prstGeom>
          <a:noFill/>
          <a:ln>
            <a:noFill/>
          </a:ln>
        </p:spPr>
        <p:txBody>
          <a:bodyPr wrap="square" anchor="ctr" lIns="38100" rIns="38100" tIns="38100" bIns="38100">
            <a:normAutofit/>
          </a:bodyPr>
          <a:lstStyle/>
          <a:p>
            <a:pPr algn="l"/>
            <a:lnSpc>
              <a:spcPct val="112000"/>
            </a:lnSpc>
            <a:r>
              <a:rPr lang="vi-VN" sz="1500" b="0" i="0" dirty="0">
                <a:solidFill>
                  <a:srgbClr val="203E3B"/>
                </a:solidFill>
                <a:latin typeface="Arial"/>
                <a:ea typeface="Arial"/>
              </a:rPr>
              <a:t xml:space="preserve">FastAPI + SQLite</a:t>
            </a:r>
            <a:endParaRPr lang="vi-VN" sz="1500"/>
          </a:p>
        </p:txBody>
      </p:sp>
      <p:sp>
        <p:nvSpPr>
          <p:cNvPr id="14" name="Shape 14"/>
          <p:cNvSpPr/>
          <p:nvPr/>
        </p:nvSpPr>
        <p:spPr>
          <a:xfrm>
            <a:off x="704850" y="3419475"/>
            <a:ext cx="76200" cy="76200"/>
          </a:xfrm>
          <a:prstGeom prst="ellipse">
            <a:avLst/>
          </a:prstGeom>
          <a:solidFill>
            <a:srgbClr val="168878"/>
          </a:solidFill>
          <a:ln>
            <a:noFill/>
          </a:ln>
        </p:spPr>
      </p:sp>
      <p:sp>
        <p:nvSpPr>
          <p:cNvPr id="15" name="Shape 15"/>
          <p:cNvSpPr/>
          <p:nvPr/>
        </p:nvSpPr>
        <p:spPr>
          <a:xfrm>
            <a:off x="895350" y="3295650"/>
            <a:ext cx="3028950" cy="400050"/>
          </a:xfrm>
          <a:prstGeom prst="rect">
            <a:avLst/>
          </a:prstGeom>
          <a:noFill/>
          <a:ln>
            <a:noFill/>
          </a:ln>
        </p:spPr>
        <p:txBody>
          <a:bodyPr wrap="square" anchor="ctr" lIns="38100" rIns="38100" tIns="38100" bIns="38100">
            <a:normAutofit/>
          </a:bodyPr>
          <a:lstStyle/>
          <a:p>
            <a:pPr algn="l"/>
            <a:lnSpc>
              <a:spcPct val="112000"/>
            </a:lnSpc>
            <a:r>
              <a:rPr lang="vi-VN" sz="1500" b="0" i="0" dirty="0">
                <a:solidFill>
                  <a:srgbClr val="203E3B"/>
                </a:solidFill>
                <a:latin typeface="Arial"/>
                <a:ea typeface="Arial"/>
              </a:rPr>
              <a:t xml:space="preserve">Model device / event</a:t>
            </a:r>
            <a:endParaRPr lang="vi-VN" sz="1500"/>
          </a:p>
        </p:txBody>
      </p:sp>
      <p:sp>
        <p:nvSpPr>
          <p:cNvPr id="16" name="Shape 16"/>
          <p:cNvSpPr/>
          <p:nvPr/>
        </p:nvSpPr>
        <p:spPr>
          <a:xfrm>
            <a:off x="704850" y="3895725"/>
            <a:ext cx="76200" cy="76200"/>
          </a:xfrm>
          <a:prstGeom prst="ellipse">
            <a:avLst/>
          </a:prstGeom>
          <a:solidFill>
            <a:srgbClr val="168878"/>
          </a:solidFill>
          <a:ln>
            <a:noFill/>
          </a:ln>
        </p:spPr>
      </p:sp>
      <p:sp>
        <p:nvSpPr>
          <p:cNvPr id="17" name="Shape 17"/>
          <p:cNvSpPr/>
          <p:nvPr/>
        </p:nvSpPr>
        <p:spPr>
          <a:xfrm>
            <a:off x="895350" y="3771900"/>
            <a:ext cx="3028950" cy="400050"/>
          </a:xfrm>
          <a:prstGeom prst="rect">
            <a:avLst/>
          </a:prstGeom>
          <a:noFill/>
          <a:ln>
            <a:noFill/>
          </a:ln>
        </p:spPr>
        <p:txBody>
          <a:bodyPr wrap="square" anchor="ctr" lIns="38100" rIns="38100" tIns="38100" bIns="38100">
            <a:normAutofit/>
          </a:bodyPr>
          <a:lstStyle/>
          <a:p>
            <a:pPr algn="l"/>
            <a:lnSpc>
              <a:spcPct val="112000"/>
            </a:lnSpc>
            <a:r>
              <a:rPr lang="vi-VN" sz="1500" b="0" i="0" dirty="0">
                <a:solidFill>
                  <a:srgbClr val="203E3B"/>
                </a:solidFill>
                <a:latin typeface="Arial"/>
                <a:ea typeface="Arial"/>
              </a:rPr>
              <a:t xml:space="preserve">Enrollment và heartbeat</a:t>
            </a:r>
            <a:endParaRPr lang="vi-VN" sz="1500"/>
          </a:p>
        </p:txBody>
      </p:sp>
      <p:sp>
        <p:nvSpPr>
          <p:cNvPr id="18" name="Shape 18"/>
          <p:cNvSpPr/>
          <p:nvPr/>
        </p:nvSpPr>
        <p:spPr>
          <a:xfrm>
            <a:off x="704850" y="4371975"/>
            <a:ext cx="76200" cy="76200"/>
          </a:xfrm>
          <a:prstGeom prst="ellipse">
            <a:avLst/>
          </a:prstGeom>
          <a:solidFill>
            <a:srgbClr val="168878"/>
          </a:solidFill>
          <a:ln>
            <a:noFill/>
          </a:ln>
        </p:spPr>
      </p:sp>
      <p:sp>
        <p:nvSpPr>
          <p:cNvPr id="19" name="Shape 19"/>
          <p:cNvSpPr/>
          <p:nvPr/>
        </p:nvSpPr>
        <p:spPr>
          <a:xfrm>
            <a:off x="895350" y="4248150"/>
            <a:ext cx="3028950" cy="400050"/>
          </a:xfrm>
          <a:prstGeom prst="rect">
            <a:avLst/>
          </a:prstGeom>
          <a:noFill/>
          <a:ln>
            <a:noFill/>
          </a:ln>
        </p:spPr>
        <p:txBody>
          <a:bodyPr wrap="square" anchor="ctr" lIns="38100" rIns="38100" tIns="38100" bIns="38100">
            <a:normAutofit/>
          </a:bodyPr>
          <a:lstStyle/>
          <a:p>
            <a:pPr algn="l"/>
            <a:lnSpc>
              <a:spcPct val="112000"/>
            </a:lnSpc>
            <a:r>
              <a:rPr lang="vi-VN" sz="1500" b="0" i="0" dirty="0">
                <a:solidFill>
                  <a:srgbClr val="203E3B"/>
                </a:solidFill>
                <a:latin typeface="Arial"/>
                <a:ea typeface="Arial"/>
              </a:rPr>
              <a:t xml:space="preserve">Dashboard khung</a:t>
            </a:r>
            <a:endParaRPr lang="vi-VN" sz="1500"/>
          </a:p>
        </p:txBody>
      </p:sp>
      <p:sp>
        <p:nvSpPr>
          <p:cNvPr id="20" name="Shape 20"/>
          <p:cNvSpPr/>
          <p:nvPr/>
        </p:nvSpPr>
        <p:spPr>
          <a:xfrm>
            <a:off x="4457700" y="1657350"/>
            <a:ext cx="666750" cy="66675"/>
          </a:xfrm>
          <a:prstGeom prst="rect">
            <a:avLst/>
          </a:prstGeom>
          <a:solidFill>
            <a:srgbClr val="48B89A"/>
          </a:solidFill>
          <a:ln>
            <a:noFill/>
          </a:ln>
        </p:spPr>
      </p:sp>
      <p:sp>
        <p:nvSpPr>
          <p:cNvPr id="21" name="Shape 21"/>
          <p:cNvSpPr/>
          <p:nvPr/>
        </p:nvSpPr>
        <p:spPr>
          <a:xfrm>
            <a:off x="4457700" y="1885950"/>
            <a:ext cx="2762250" cy="238125"/>
          </a:xfrm>
          <a:prstGeom prst="rect">
            <a:avLst/>
          </a:prstGeom>
          <a:noFill/>
          <a:ln>
            <a:noFill/>
          </a:ln>
        </p:spPr>
        <p:txBody>
          <a:bodyPr wrap="square" anchor="ctr" lIns="38100" rIns="38100" tIns="38100" bIns="38100">
            <a:normAutofit/>
          </a:bodyPr>
          <a:lstStyle/>
          <a:p>
            <a:pPr algn="l"/>
            <a:lnSpc>
              <a:spcPct val="112000"/>
            </a:lnSpc>
            <a:r>
              <a:rPr lang="vi-VN" sz="1300" b="1" i="0" dirty="0">
                <a:solidFill>
                  <a:srgbClr val="48B89A"/>
                </a:solidFill>
                <a:latin typeface="Arial"/>
                <a:ea typeface="Arial"/>
              </a:rPr>
              <a:t xml:space="preserve">TUẦN 2</a:t>
            </a:r>
            <a:endParaRPr lang="vi-VN" sz="1300"/>
          </a:p>
        </p:txBody>
      </p:sp>
      <p:sp>
        <p:nvSpPr>
          <p:cNvPr id="22" name="Shape 22"/>
          <p:cNvSpPr/>
          <p:nvPr/>
        </p:nvSpPr>
        <p:spPr>
          <a:xfrm>
            <a:off x="4457700" y="2228850"/>
            <a:ext cx="3048000" cy="409575"/>
          </a:xfrm>
          <a:prstGeom prst="rect">
            <a:avLst/>
          </a:prstGeom>
          <a:noFill/>
          <a:ln>
            <a:noFill/>
          </a:ln>
        </p:spPr>
        <p:txBody>
          <a:bodyPr wrap="square" anchor="ctr" lIns="38100" rIns="38100" tIns="38100" bIns="38100">
            <a:normAutofit/>
          </a:bodyPr>
          <a:lstStyle/>
          <a:p>
            <a:pPr algn="l"/>
            <a:lnSpc>
              <a:spcPct val="112000"/>
            </a:lnSpc>
            <a:r>
              <a:rPr lang="vi-VN" sz="2400" b="1" i="0" dirty="0">
                <a:solidFill>
                  <a:srgbClr val="123B38"/>
                </a:solidFill>
                <a:latin typeface="Arial"/>
                <a:ea typeface="Arial"/>
              </a:rPr>
              <a:t xml:space="preserve">Policy thời gian</a:t>
            </a:r>
            <a:endParaRPr lang="vi-VN" sz="2400"/>
          </a:p>
        </p:txBody>
      </p:sp>
      <p:sp>
        <p:nvSpPr>
          <p:cNvPr id="23" name="Shape 23"/>
          <p:cNvSpPr/>
          <p:nvPr/>
        </p:nvSpPr>
        <p:spPr>
          <a:xfrm>
            <a:off x="4476750" y="2943225"/>
            <a:ext cx="76200" cy="76200"/>
          </a:xfrm>
          <a:prstGeom prst="ellipse">
            <a:avLst/>
          </a:prstGeom>
          <a:solidFill>
            <a:srgbClr val="48B89A"/>
          </a:solidFill>
          <a:ln>
            <a:noFill/>
          </a:ln>
        </p:spPr>
      </p:sp>
      <p:sp>
        <p:nvSpPr>
          <p:cNvPr id="24" name="Shape 24"/>
          <p:cNvSpPr/>
          <p:nvPr/>
        </p:nvSpPr>
        <p:spPr>
          <a:xfrm>
            <a:off x="4667250" y="2819400"/>
            <a:ext cx="3028950" cy="400050"/>
          </a:xfrm>
          <a:prstGeom prst="rect">
            <a:avLst/>
          </a:prstGeom>
          <a:noFill/>
          <a:ln>
            <a:noFill/>
          </a:ln>
        </p:spPr>
        <p:txBody>
          <a:bodyPr wrap="square" anchor="ctr" lIns="38100" rIns="38100" tIns="38100" bIns="38100">
            <a:normAutofit/>
          </a:bodyPr>
          <a:lstStyle/>
          <a:p>
            <a:pPr algn="l"/>
            <a:lnSpc>
              <a:spcPct val="112000"/>
            </a:lnSpc>
            <a:r>
              <a:rPr lang="vi-VN" sz="1500" b="0" i="0" dirty="0">
                <a:solidFill>
                  <a:srgbClr val="203E3B"/>
                </a:solidFill>
                <a:latin typeface="Arial"/>
                <a:ea typeface="Arial"/>
              </a:rPr>
              <a:t xml:space="preserve">Quota ngày thường/cuối tuần</a:t>
            </a:r>
            <a:endParaRPr lang="vi-VN" sz="1500"/>
          </a:p>
        </p:txBody>
      </p:sp>
      <p:sp>
        <p:nvSpPr>
          <p:cNvPr id="25" name="Shape 25"/>
          <p:cNvSpPr/>
          <p:nvPr/>
        </p:nvSpPr>
        <p:spPr>
          <a:xfrm>
            <a:off x="4476750" y="3419475"/>
            <a:ext cx="76200" cy="76200"/>
          </a:xfrm>
          <a:prstGeom prst="ellipse">
            <a:avLst/>
          </a:prstGeom>
          <a:solidFill>
            <a:srgbClr val="48B89A"/>
          </a:solidFill>
          <a:ln>
            <a:noFill/>
          </a:ln>
        </p:spPr>
      </p:sp>
      <p:sp>
        <p:nvSpPr>
          <p:cNvPr id="26" name="Shape 26"/>
          <p:cNvSpPr/>
          <p:nvPr/>
        </p:nvSpPr>
        <p:spPr>
          <a:xfrm>
            <a:off x="4667250" y="3295650"/>
            <a:ext cx="3028950" cy="400050"/>
          </a:xfrm>
          <a:prstGeom prst="rect">
            <a:avLst/>
          </a:prstGeom>
          <a:noFill/>
          <a:ln>
            <a:noFill/>
          </a:ln>
        </p:spPr>
        <p:txBody>
          <a:bodyPr wrap="square" anchor="ctr" lIns="38100" rIns="38100" tIns="38100" bIns="38100">
            <a:normAutofit/>
          </a:bodyPr>
          <a:lstStyle/>
          <a:p>
            <a:pPr algn="l"/>
            <a:lnSpc>
              <a:spcPct val="112000"/>
            </a:lnSpc>
            <a:r>
              <a:rPr lang="vi-VN" sz="1500" b="0" i="0" dirty="0">
                <a:solidFill>
                  <a:srgbClr val="203E3B"/>
                </a:solidFill>
                <a:latin typeface="Arial"/>
                <a:ea typeface="Arial"/>
              </a:rPr>
              <a:t xml:space="preserve">Lịch 7 × 48 ô / 30 phút</a:t>
            </a:r>
            <a:endParaRPr lang="vi-VN" sz="1500"/>
          </a:p>
        </p:txBody>
      </p:sp>
      <p:sp>
        <p:nvSpPr>
          <p:cNvPr id="27" name="Shape 27"/>
          <p:cNvSpPr/>
          <p:nvPr/>
        </p:nvSpPr>
        <p:spPr>
          <a:xfrm>
            <a:off x="4476750" y="3895725"/>
            <a:ext cx="76200" cy="76200"/>
          </a:xfrm>
          <a:prstGeom prst="ellipse">
            <a:avLst/>
          </a:prstGeom>
          <a:solidFill>
            <a:srgbClr val="48B89A"/>
          </a:solidFill>
          <a:ln>
            <a:noFill/>
          </a:ln>
        </p:spPr>
      </p:sp>
      <p:sp>
        <p:nvSpPr>
          <p:cNvPr id="28" name="Shape 28"/>
          <p:cNvSpPr/>
          <p:nvPr/>
        </p:nvSpPr>
        <p:spPr>
          <a:xfrm>
            <a:off x="4667250" y="3771900"/>
            <a:ext cx="3028950" cy="400050"/>
          </a:xfrm>
          <a:prstGeom prst="rect">
            <a:avLst/>
          </a:prstGeom>
          <a:noFill/>
          <a:ln>
            <a:noFill/>
          </a:ln>
        </p:spPr>
        <p:txBody>
          <a:bodyPr wrap="square" anchor="ctr" lIns="38100" rIns="38100" tIns="38100" bIns="38100">
            <a:normAutofit/>
          </a:bodyPr>
          <a:lstStyle/>
          <a:p>
            <a:pPr algn="l"/>
            <a:lnSpc>
              <a:spcPct val="112000"/>
            </a:lnSpc>
            <a:r>
              <a:rPr lang="vi-VN" sz="1500" b="0" i="0" dirty="0">
                <a:solidFill>
                  <a:srgbClr val="203E3B"/>
                </a:solidFill>
                <a:latin typeface="Arial"/>
                <a:ea typeface="Arial"/>
              </a:rPr>
              <a:t xml:space="preserve">HMAC version + payload</a:t>
            </a:r>
            <a:endParaRPr lang="vi-VN" sz="1500"/>
          </a:p>
        </p:txBody>
      </p:sp>
      <p:sp>
        <p:nvSpPr>
          <p:cNvPr id="29" name="Shape 29"/>
          <p:cNvSpPr/>
          <p:nvPr/>
        </p:nvSpPr>
        <p:spPr>
          <a:xfrm>
            <a:off x="4476750" y="4371975"/>
            <a:ext cx="76200" cy="76200"/>
          </a:xfrm>
          <a:prstGeom prst="ellipse">
            <a:avLst/>
          </a:prstGeom>
          <a:solidFill>
            <a:srgbClr val="48B89A"/>
          </a:solidFill>
          <a:ln>
            <a:noFill/>
          </a:ln>
        </p:spPr>
      </p:sp>
      <p:sp>
        <p:nvSpPr>
          <p:cNvPr id="30" name="Shape 30"/>
          <p:cNvSpPr/>
          <p:nvPr/>
        </p:nvSpPr>
        <p:spPr>
          <a:xfrm>
            <a:off x="4667250" y="4248150"/>
            <a:ext cx="3028950" cy="400050"/>
          </a:xfrm>
          <a:prstGeom prst="rect">
            <a:avLst/>
          </a:prstGeom>
          <a:noFill/>
          <a:ln>
            <a:noFill/>
          </a:ln>
        </p:spPr>
        <p:txBody>
          <a:bodyPr wrap="square" anchor="ctr" lIns="38100" rIns="38100" tIns="38100" bIns="38100">
            <a:normAutofit/>
          </a:bodyPr>
          <a:lstStyle/>
          <a:p>
            <a:pPr algn="l"/>
            <a:lnSpc>
              <a:spcPct val="112000"/>
            </a:lnSpc>
            <a:r>
              <a:rPr lang="vi-VN" sz="1500" b="0" i="0" dirty="0">
                <a:solidFill>
                  <a:srgbClr val="203E3B"/>
                </a:solidFill>
                <a:latin typeface="Arial"/>
                <a:ea typeface="Arial"/>
              </a:rPr>
              <a:t xml:space="preserve">Agent đếm bằng monotonic clock</a:t>
            </a:r>
            <a:endParaRPr lang="vi-VN" sz="1500"/>
          </a:p>
        </p:txBody>
      </p:sp>
      <p:sp>
        <p:nvSpPr>
          <p:cNvPr id="31" name="Shape 31"/>
          <p:cNvSpPr/>
          <p:nvPr/>
        </p:nvSpPr>
        <p:spPr>
          <a:xfrm>
            <a:off x="8229600" y="1657350"/>
            <a:ext cx="666750" cy="66675"/>
          </a:xfrm>
          <a:prstGeom prst="rect">
            <a:avLst/>
          </a:prstGeom>
          <a:solidFill>
            <a:srgbClr val="E9AC51"/>
          </a:solidFill>
          <a:ln>
            <a:noFill/>
          </a:ln>
        </p:spPr>
      </p:sp>
      <p:sp>
        <p:nvSpPr>
          <p:cNvPr id="32" name="Shape 32"/>
          <p:cNvSpPr/>
          <p:nvPr/>
        </p:nvSpPr>
        <p:spPr>
          <a:xfrm>
            <a:off x="8229600" y="1885950"/>
            <a:ext cx="2762250" cy="238125"/>
          </a:xfrm>
          <a:prstGeom prst="rect">
            <a:avLst/>
          </a:prstGeom>
          <a:noFill/>
          <a:ln>
            <a:noFill/>
          </a:ln>
        </p:spPr>
        <p:txBody>
          <a:bodyPr wrap="square" anchor="ctr" lIns="38100" rIns="38100" tIns="38100" bIns="38100">
            <a:normAutofit/>
          </a:bodyPr>
          <a:lstStyle/>
          <a:p>
            <a:pPr algn="l"/>
            <a:lnSpc>
              <a:spcPct val="112000"/>
            </a:lnSpc>
            <a:r>
              <a:rPr lang="vi-VN" sz="1300" b="1" i="0" dirty="0">
                <a:solidFill>
                  <a:srgbClr val="E9AC51"/>
                </a:solidFill>
                <a:latin typeface="Arial"/>
                <a:ea typeface="Arial"/>
              </a:rPr>
              <a:t xml:space="preserve">TUẦN 3</a:t>
            </a:r>
            <a:endParaRPr lang="vi-VN" sz="1300"/>
          </a:p>
        </p:txBody>
      </p:sp>
      <p:sp>
        <p:nvSpPr>
          <p:cNvPr id="33" name="Shape 33"/>
          <p:cNvSpPr/>
          <p:nvPr/>
        </p:nvSpPr>
        <p:spPr>
          <a:xfrm>
            <a:off x="8229600" y="2228850"/>
            <a:ext cx="3048000" cy="409575"/>
          </a:xfrm>
          <a:prstGeom prst="rect">
            <a:avLst/>
          </a:prstGeom>
          <a:noFill/>
          <a:ln>
            <a:noFill/>
          </a:ln>
        </p:spPr>
        <p:txBody>
          <a:bodyPr wrap="square" anchor="ctr" lIns="38100" rIns="38100" tIns="38100" bIns="38100">
            <a:normAutofit/>
          </a:bodyPr>
          <a:lstStyle/>
          <a:p>
            <a:pPr algn="l"/>
            <a:lnSpc>
              <a:spcPct val="112000"/>
            </a:lnSpc>
            <a:r>
              <a:rPr lang="vi-VN" sz="2400" b="1" i="0" dirty="0">
                <a:solidFill>
                  <a:srgbClr val="123B38"/>
                </a:solidFill>
                <a:latin typeface="Arial"/>
                <a:ea typeface="Arial"/>
              </a:rPr>
              <a:t xml:space="preserve">F2 + F3 prototype</a:t>
            </a:r>
            <a:endParaRPr lang="vi-VN" sz="2400"/>
          </a:p>
        </p:txBody>
      </p:sp>
      <p:sp>
        <p:nvSpPr>
          <p:cNvPr id="34" name="Shape 34"/>
          <p:cNvSpPr/>
          <p:nvPr/>
        </p:nvSpPr>
        <p:spPr>
          <a:xfrm>
            <a:off x="8248650" y="2943225"/>
            <a:ext cx="76200" cy="76200"/>
          </a:xfrm>
          <a:prstGeom prst="ellipse">
            <a:avLst/>
          </a:prstGeom>
          <a:solidFill>
            <a:srgbClr val="E9AC51"/>
          </a:solidFill>
          <a:ln>
            <a:noFill/>
          </a:ln>
        </p:spPr>
      </p:sp>
      <p:sp>
        <p:nvSpPr>
          <p:cNvPr id="35" name="Shape 35"/>
          <p:cNvSpPr/>
          <p:nvPr/>
        </p:nvSpPr>
        <p:spPr>
          <a:xfrm>
            <a:off x="8439150" y="2819400"/>
            <a:ext cx="3028950" cy="400050"/>
          </a:xfrm>
          <a:prstGeom prst="rect">
            <a:avLst/>
          </a:prstGeom>
          <a:noFill/>
          <a:ln>
            <a:noFill/>
          </a:ln>
        </p:spPr>
        <p:txBody>
          <a:bodyPr wrap="square" anchor="ctr" lIns="38100" rIns="38100" tIns="38100" bIns="38100">
            <a:normAutofit/>
          </a:bodyPr>
          <a:lstStyle/>
          <a:p>
            <a:pPr algn="l"/>
            <a:lnSpc>
              <a:spcPct val="112000"/>
            </a:lnSpc>
            <a:r>
              <a:rPr lang="vi-VN" sz="1500" b="0" i="0" dirty="0">
                <a:solidFill>
                  <a:srgbClr val="203E3B"/>
                </a:solidFill>
                <a:latin typeface="Arial"/>
                <a:ea typeface="Arial"/>
              </a:rPr>
              <a:t xml:space="preserve">200 domain fixture .test</a:t>
            </a:r>
            <a:endParaRPr lang="vi-VN" sz="1500"/>
          </a:p>
        </p:txBody>
      </p:sp>
      <p:sp>
        <p:nvSpPr>
          <p:cNvPr id="36" name="Shape 36"/>
          <p:cNvSpPr/>
          <p:nvPr/>
        </p:nvSpPr>
        <p:spPr>
          <a:xfrm>
            <a:off x="8248650" y="3419475"/>
            <a:ext cx="76200" cy="76200"/>
          </a:xfrm>
          <a:prstGeom prst="ellipse">
            <a:avLst/>
          </a:prstGeom>
          <a:solidFill>
            <a:srgbClr val="E9AC51"/>
          </a:solidFill>
          <a:ln>
            <a:noFill/>
          </a:ln>
        </p:spPr>
      </p:sp>
      <p:sp>
        <p:nvSpPr>
          <p:cNvPr id="37" name="Shape 37"/>
          <p:cNvSpPr/>
          <p:nvPr/>
        </p:nvSpPr>
        <p:spPr>
          <a:xfrm>
            <a:off x="8439150" y="3295650"/>
            <a:ext cx="3028950" cy="400050"/>
          </a:xfrm>
          <a:prstGeom prst="rect">
            <a:avLst/>
          </a:prstGeom>
          <a:noFill/>
          <a:ln>
            <a:noFill/>
          </a:ln>
        </p:spPr>
        <p:txBody>
          <a:bodyPr wrap="square" anchor="ctr" lIns="38100" rIns="38100" tIns="38100" bIns="38100">
            <a:normAutofit/>
          </a:bodyPr>
          <a:lstStyle/>
          <a:p>
            <a:pPr algn="l"/>
            <a:lnSpc>
              <a:spcPct val="112000"/>
            </a:lnSpc>
            <a:r>
              <a:rPr lang="vi-VN" sz="1500" b="0" i="0" dirty="0">
                <a:solidFill>
                  <a:srgbClr val="203E3B"/>
                </a:solidFill>
                <a:latin typeface="Arial"/>
                <a:ea typeface="Arial"/>
              </a:rPr>
              <a:t xml:space="preserve">DNS UDP loopback</a:t>
            </a:r>
            <a:endParaRPr lang="vi-VN" sz="1500"/>
          </a:p>
        </p:txBody>
      </p:sp>
      <p:sp>
        <p:nvSpPr>
          <p:cNvPr id="38" name="Shape 38"/>
          <p:cNvSpPr/>
          <p:nvPr/>
        </p:nvSpPr>
        <p:spPr>
          <a:xfrm>
            <a:off x="8248650" y="3895725"/>
            <a:ext cx="76200" cy="76200"/>
          </a:xfrm>
          <a:prstGeom prst="ellipse">
            <a:avLst/>
          </a:prstGeom>
          <a:solidFill>
            <a:srgbClr val="E9AC51"/>
          </a:solidFill>
          <a:ln>
            <a:noFill/>
          </a:ln>
        </p:spPr>
      </p:sp>
      <p:sp>
        <p:nvSpPr>
          <p:cNvPr id="39" name="Shape 39"/>
          <p:cNvSpPr/>
          <p:nvPr/>
        </p:nvSpPr>
        <p:spPr>
          <a:xfrm>
            <a:off x="8439150" y="3771900"/>
            <a:ext cx="3028950" cy="400050"/>
          </a:xfrm>
          <a:prstGeom prst="rect">
            <a:avLst/>
          </a:prstGeom>
          <a:noFill/>
          <a:ln>
            <a:noFill/>
          </a:ln>
        </p:spPr>
        <p:txBody>
          <a:bodyPr wrap="square" anchor="ctr" lIns="38100" rIns="38100" tIns="38100" bIns="38100">
            <a:normAutofit/>
          </a:bodyPr>
          <a:lstStyle/>
          <a:p>
            <a:pPr algn="l"/>
            <a:lnSpc>
              <a:spcPct val="112000"/>
            </a:lnSpc>
            <a:r>
              <a:rPr lang="vi-VN" sz="1500" b="0" i="0" dirty="0">
                <a:solidFill>
                  <a:srgbClr val="203E3B"/>
                </a:solidFill>
                <a:latin typeface="Arial"/>
                <a:ea typeface="Arial"/>
              </a:rPr>
              <a:t xml:space="preserve">Metadata app foreground</a:t>
            </a:r>
            <a:endParaRPr lang="vi-VN" sz="1500"/>
          </a:p>
        </p:txBody>
      </p:sp>
      <p:sp>
        <p:nvSpPr>
          <p:cNvPr id="40" name="Shape 40"/>
          <p:cNvSpPr/>
          <p:nvPr/>
        </p:nvSpPr>
        <p:spPr>
          <a:xfrm>
            <a:off x="8248650" y="4371975"/>
            <a:ext cx="76200" cy="76200"/>
          </a:xfrm>
          <a:prstGeom prst="ellipse">
            <a:avLst/>
          </a:prstGeom>
          <a:solidFill>
            <a:srgbClr val="E9AC51"/>
          </a:solidFill>
          <a:ln>
            <a:noFill/>
          </a:ln>
        </p:spPr>
      </p:sp>
      <p:sp>
        <p:nvSpPr>
          <p:cNvPr id="41" name="Shape 41"/>
          <p:cNvSpPr/>
          <p:nvPr/>
        </p:nvSpPr>
        <p:spPr>
          <a:xfrm>
            <a:off x="8439150" y="4248150"/>
            <a:ext cx="3028950" cy="400050"/>
          </a:xfrm>
          <a:prstGeom prst="rect">
            <a:avLst/>
          </a:prstGeom>
          <a:noFill/>
          <a:ln>
            <a:noFill/>
          </a:ln>
        </p:spPr>
        <p:txBody>
          <a:bodyPr wrap="square" anchor="ctr" lIns="38100" rIns="38100" tIns="38100" bIns="38100">
            <a:normAutofit/>
          </a:bodyPr>
          <a:lstStyle/>
          <a:p>
            <a:pPr algn="l"/>
            <a:lnSpc>
              <a:spcPct val="112000"/>
            </a:lnSpc>
            <a:r>
              <a:rPr lang="vi-VN" sz="1500" b="0" i="0" dirty="0">
                <a:solidFill>
                  <a:srgbClr val="203E3B"/>
                </a:solidFill>
                <a:latin typeface="Arial"/>
                <a:ea typeface="Arial"/>
              </a:rPr>
              <a:t xml:space="preserve">Event, report, trang trẻ</a:t>
            </a:r>
            <a:endParaRPr lang="vi-VN" sz="1500"/>
          </a:p>
        </p:txBody>
      </p:sp>
      <p:sp>
        <p:nvSpPr>
          <p:cNvPr id="42" name="Shape 42"/>
          <p:cNvSpPr/>
          <p:nvPr/>
        </p:nvSpPr>
        <p:spPr>
          <a:xfrm>
            <a:off x="609600" y="5295900"/>
            <a:ext cx="10953750" cy="9525"/>
          </a:xfrm>
          <a:prstGeom prst="rect">
            <a:avLst/>
          </a:prstGeom>
          <a:solidFill>
            <a:srgbClr val="D9E7E0"/>
          </a:solidFill>
          <a:ln>
            <a:noFill/>
          </a:ln>
        </p:spPr>
      </p:sp>
      <p:sp>
        <p:nvSpPr>
          <p:cNvPr id="43" name="Shape 43"/>
          <p:cNvSpPr/>
          <p:nvPr/>
        </p:nvSpPr>
        <p:spPr>
          <a:xfrm>
            <a:off x="666750" y="5495925"/>
            <a:ext cx="10668000" cy="438150"/>
          </a:xfrm>
          <a:prstGeom prst="rect">
            <a:avLst/>
          </a:prstGeom>
          <a:noFill/>
          <a:ln>
            <a:noFill/>
          </a:ln>
        </p:spPr>
        <p:txBody>
          <a:bodyPr wrap="square" anchor="ctr" lIns="38100" rIns="38100" tIns="38100" bIns="38100">
            <a:normAutofit/>
          </a:bodyPr>
          <a:lstStyle/>
          <a:p>
            <a:pPr algn="l"/>
            <a:lnSpc>
              <a:spcPct val="112000"/>
            </a:lnSpc>
            <a:r>
              <a:rPr lang="vi-VN" sz="1600" b="1" i="0" dirty="0">
                <a:solidFill>
                  <a:srgbClr val="168878"/>
                </a:solidFill>
                <a:latin typeface="Arial"/>
                <a:ea typeface="Arial"/>
              </a:rPr>
              <a:t xml:space="preserve">Kết quả chung: luồng demo chạy từ cấu hình đến agent và quay về báo cáo; chưa có dữ liệu nghiệm thu.</a:t>
            </a:r>
            <a:endParaRPr lang="vi-VN" sz="16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7F2"/>
          </a:solidFill>
          <a:ln>
            <a:noFill/>
          </a:ln>
        </p:spPr>
      </p:sp>
      <p:sp>
        <p:nvSpPr>
          <p:cNvPr id="3" name="Shape 3"/>
          <p:cNvSpPr/>
          <p:nvPr/>
        </p:nvSpPr>
        <p:spPr>
          <a:xfrm>
            <a:off x="0" y="0"/>
            <a:ext cx="133350" cy="6858000"/>
          </a:xfrm>
          <a:prstGeom prst="rect">
            <a:avLst/>
          </a:prstGeom>
          <a:solidFill>
            <a:srgbClr val="168878"/>
          </a:solidFill>
          <a:ln>
            <a:noFill/>
          </a:ln>
        </p:spPr>
      </p:sp>
      <p:sp>
        <p:nvSpPr>
          <p:cNvPr id="4" name="Shape 4"/>
          <p:cNvSpPr/>
          <p:nvPr/>
        </p:nvSpPr>
        <p:spPr>
          <a:xfrm>
            <a:off x="609600" y="323850"/>
            <a:ext cx="9525000" cy="238125"/>
          </a:xfrm>
          <a:prstGeom prst="rect">
            <a:avLst/>
          </a:prstGeom>
          <a:noFill/>
          <a:ln>
            <a:noFill/>
          </a:ln>
        </p:spPr>
        <p:txBody>
          <a:bodyPr wrap="square" anchor="ctr" lIns="38100" rIns="38100" tIns="38100" bIns="38100">
            <a:normAutofit/>
          </a:bodyPr>
          <a:lstStyle/>
          <a:p>
            <a:pPr algn="l"/>
            <a:lnSpc>
              <a:spcPct val="112000"/>
            </a:lnSpc>
            <a:r>
              <a:rPr lang="vi-VN" sz="1200" b="1" i="0" dirty="0">
                <a:solidFill>
                  <a:srgbClr val="168878"/>
                </a:solidFill>
                <a:latin typeface="Arial"/>
                <a:ea typeface="Arial"/>
              </a:rPr>
              <a:t xml:space="preserve">04  /  CÁCH HOẠT ĐỘNG</a:t>
            </a:r>
            <a:endParaRPr lang="vi-VN" sz="1200"/>
          </a:p>
        </p:txBody>
      </p:sp>
      <p:sp>
        <p:nvSpPr>
          <p:cNvPr id="5" name="Shape 5"/>
          <p:cNvSpPr/>
          <p:nvPr/>
        </p:nvSpPr>
        <p:spPr>
          <a:xfrm>
            <a:off x="609600" y="600075"/>
            <a:ext cx="10668000" cy="514350"/>
          </a:xfrm>
          <a:prstGeom prst="rect">
            <a:avLst/>
          </a:prstGeom>
          <a:noFill/>
          <a:ln>
            <a:noFill/>
          </a:ln>
        </p:spPr>
        <p:txBody>
          <a:bodyPr wrap="square" anchor="ctr" lIns="38100" rIns="38100" tIns="38100" bIns="38100">
            <a:normAutofit/>
          </a:bodyPr>
          <a:lstStyle/>
          <a:p>
            <a:pPr algn="l"/>
            <a:lnSpc>
              <a:spcPct val="112000"/>
            </a:lnSpc>
            <a:r>
              <a:rPr lang="vi-VN" sz="3100" b="1" i="0" dirty="0">
                <a:solidFill>
                  <a:srgbClr val="123B38"/>
                </a:solidFill>
                <a:latin typeface="Arial"/>
                <a:ea typeface="Arial"/>
              </a:rPr>
              <a:t xml:space="preserve">Policy thời gian: dashboard đến agent</a:t>
            </a:r>
            <a:endParaRPr lang="vi-VN" sz="3100"/>
          </a:p>
        </p:txBody>
      </p:sp>
      <p:sp>
        <p:nvSpPr>
          <p:cNvPr id="6" name="Shape 6"/>
          <p:cNvSpPr/>
          <p:nvPr/>
        </p:nvSpPr>
        <p:spPr>
          <a:xfrm>
            <a:off x="609600" y="1219200"/>
            <a:ext cx="10953750" cy="9525"/>
          </a:xfrm>
          <a:prstGeom prst="rect">
            <a:avLst/>
          </a:prstGeom>
          <a:solidFill>
            <a:srgbClr val="D9E7E0"/>
          </a:solidFill>
          <a:ln>
            <a:noFill/>
          </a:ln>
        </p:spPr>
      </p:sp>
      <p:sp>
        <p:nvSpPr>
          <p:cNvPr id="7" name="Shape 7"/>
          <p:cNvSpPr/>
          <p:nvPr/>
        </p:nvSpPr>
        <p:spPr>
          <a:xfrm>
            <a:off x="609600" y="6438900"/>
            <a:ext cx="8096250" cy="1905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8100" rIns="38100" tIns="38100" bIns="38100">
            <a:normAutofit/>
          </a:bodyPr>
          <a:lstStyle/>
          <a:p>
            <a:pPr algn="l"/>
            <a:lnSpc>
              <a:spcPct val="112000"/>
            </a:lnSpc>
            <a:r>
              <a:rPr lang="vi-VN" sz="1000" b="0" i="0" dirty="0">
                <a:solidFill>
                  <a:srgbClr val="617A75"/>
                </a:solidFill>
                <a:latin typeface="Arial"/>
                <a:ea typeface="Arial"/>
              </a:rPr>
              <a:t xml:space="preserve">OGK  /  Prototype học tập  /  Tuần 1–3</a:t>
            </a:r>
            <a:endParaRPr lang="vi-VN" sz="1000"/>
          </a:p>
        </p:txBody>
      </p:sp>
      <p:sp>
        <p:nvSpPr>
          <p:cNvPr id="8" name="Shape 8"/>
          <p:cNvSpPr/>
          <p:nvPr/>
        </p:nvSpPr>
        <p:spPr>
          <a:xfrm>
            <a:off x="11049000" y="6419850"/>
            <a:ext cx="476250" cy="209550"/>
          </a:xfrm>
          <a:prstGeom prst="rect">
            <a:avLst/>
          </a:prstGeom>
          <a:noFill/>
          <a:ln>
            <a:noFill/>
          </a:ln>
        </p:spPr>
        <p:txBody>
          <a:bodyPr wrap="square" anchor="ctr" lIns="38100" rIns="38100" tIns="38100" bIns="38100">
            <a:normAutofit/>
          </a:bodyPr>
          <a:lstStyle/>
          <a:p>
            <a:pPr algn="r"/>
            <a:lnSpc>
              <a:spcPct val="112000"/>
            </a:lnSpc>
            <a:r>
              <a:rPr lang="vi-VN" sz="1100" b="1" i="0" dirty="0">
                <a:solidFill>
                  <a:srgbClr val="168878"/>
                </a:solidFill>
                <a:latin typeface="Arial"/>
                <a:ea typeface="Arial"/>
              </a:rPr>
              <a:t xml:space="preserve">05</a:t>
            </a:r>
            <a:endParaRPr lang="vi-VN" sz="1100"/>
          </a:p>
        </p:txBody>
      </p:sp>
      <p:sp>
        <p:nvSpPr>
          <p:cNvPr id="9" name="Shape 9"/>
          <p:cNvSpPr/>
          <p:nvPr/>
        </p:nvSpPr>
        <p:spPr>
          <a:xfrm>
            <a:off x="685800" y="2171700"/>
            <a:ext cx="590550" cy="590550"/>
          </a:xfrm>
          <a:prstGeom prst="roundRect">
            <a:avLst/>
          </a:prstGeom>
          <a:solidFill>
            <a:srgbClr val="168878"/>
          </a:solidFill>
          <a:ln>
            <a:noFill/>
          </a:ln>
        </p:spPr>
      </p:sp>
      <p:sp>
        <p:nvSpPr>
          <p:cNvPr id="10" name="Shape 10"/>
          <p:cNvSpPr/>
          <p:nvPr/>
        </p:nvSpPr>
        <p:spPr>
          <a:xfrm>
            <a:off x="762000" y="2295525"/>
            <a:ext cx="438150" cy="285750"/>
          </a:xfrm>
          <a:prstGeom prst="rect">
            <a:avLst/>
          </a:prstGeom>
          <a:noFill/>
          <a:ln>
            <a:noFill/>
          </a:ln>
        </p:spPr>
        <p:txBody>
          <a:bodyPr wrap="square" anchor="ctr" lIns="38100" rIns="38100" tIns="38100" bIns="38100">
            <a:normAutofit/>
          </a:bodyPr>
          <a:lstStyle/>
          <a:p>
            <a:pPr algn="ctr"/>
            <a:lnSpc>
              <a:spcPct val="112000"/>
            </a:lnSpc>
            <a:r>
              <a:rPr lang="vi-VN" sz="1800" b="1" i="0" dirty="0">
                <a:solidFill>
                  <a:srgbClr val="FFFFFF"/>
                </a:solidFill>
                <a:latin typeface="Arial"/>
                <a:ea typeface="Arial"/>
              </a:rPr>
              <a:t xml:space="preserve">1</a:t>
            </a:r>
            <a:endParaRPr lang="vi-VN" sz="1800"/>
          </a:p>
        </p:txBody>
      </p:sp>
      <p:sp>
        <p:nvSpPr>
          <p:cNvPr id="11" name="Shape 11"/>
          <p:cNvSpPr/>
          <p:nvPr/>
        </p:nvSpPr>
        <p:spPr>
          <a:xfrm>
            <a:off x="685800" y="3009900"/>
            <a:ext cx="2428875" cy="295275"/>
          </a:xfrm>
          <a:prstGeom prst="rect">
            <a:avLst/>
          </a:prstGeom>
          <a:noFill/>
          <a:ln>
            <a:noFill/>
          </a:ln>
        </p:spPr>
        <p:txBody>
          <a:bodyPr wrap="square" anchor="ctr" lIns="38100" rIns="38100" tIns="38100" bIns="38100">
            <a:normAutofit/>
          </a:bodyPr>
          <a:lstStyle/>
          <a:p>
            <a:pPr algn="l"/>
            <a:lnSpc>
              <a:spcPct val="112000"/>
            </a:lnSpc>
            <a:r>
              <a:rPr lang="vi-VN" sz="1500" b="1" i="0" dirty="0">
                <a:solidFill>
                  <a:srgbClr val="168878"/>
                </a:solidFill>
                <a:latin typeface="Arial"/>
                <a:ea typeface="Arial"/>
              </a:rPr>
              <a:t xml:space="preserve">CẤU HÌNH</a:t>
            </a:r>
            <a:endParaRPr lang="vi-VN" sz="1500"/>
          </a:p>
        </p:txBody>
      </p:sp>
      <p:sp>
        <p:nvSpPr>
          <p:cNvPr id="12" name="Shape 12"/>
          <p:cNvSpPr/>
          <p:nvPr/>
        </p:nvSpPr>
        <p:spPr>
          <a:xfrm>
            <a:off x="685800" y="3390900"/>
            <a:ext cx="2428875" cy="657225"/>
          </a:xfrm>
          <a:prstGeom prst="rect">
            <a:avLst/>
          </a:prstGeom>
          <a:noFill/>
          <a:ln>
            <a:noFill/>
          </a:ln>
        </p:spPr>
        <p:txBody>
          <a:bodyPr wrap="square" anchor="top" lIns="38100" rIns="38100" tIns="38100" bIns="38100">
            <a:normAutofit/>
          </a:bodyPr>
          <a:lstStyle/>
          <a:p>
            <a:pPr algn="l"/>
            <a:lnSpc>
              <a:spcPct val="112000"/>
            </a:lnSpc>
            <a:r>
              <a:rPr lang="vi-VN" sz="1800" b="1" i="0" dirty="0">
                <a:solidFill>
                  <a:srgbClr val="123B38"/>
                </a:solidFill>
                <a:latin typeface="Arial"/>
                <a:ea typeface="Arial"/>
              </a:rPr>
              <a:t xml:space="preserve">Quota + lịch</a:t>
            </a:r>
            <a:endParaRPr lang="vi-VN" sz="1800"/>
          </a:p>
          <a:p>
            <a:pPr algn="l"/>
            <a:lnSpc>
              <a:spcPct val="112000"/>
            </a:lnSpc>
            <a:r>
              <a:rPr lang="vi-VN" sz="1800" b="1" i="0" dirty="0">
                <a:solidFill>
                  <a:srgbClr val="123B38"/>
                </a:solidFill>
                <a:latin typeface="Arial"/>
                <a:ea typeface="Arial"/>
              </a:rPr>
              <a:t xml:space="preserve">7 ngày × 48 ô</a:t>
            </a:r>
            <a:endParaRPr lang="vi-VN" sz="1800"/>
          </a:p>
        </p:txBody>
      </p:sp>
      <p:sp>
        <p:nvSpPr>
          <p:cNvPr id="13" name="Shape 13"/>
          <p:cNvSpPr/>
          <p:nvPr/>
        </p:nvSpPr>
        <p:spPr>
          <a:xfrm>
            <a:off x="3429000" y="2171700"/>
            <a:ext cx="590550" cy="590550"/>
          </a:xfrm>
          <a:prstGeom prst="roundRect">
            <a:avLst/>
          </a:prstGeom>
          <a:solidFill>
            <a:srgbClr val="48B89A"/>
          </a:solidFill>
          <a:ln>
            <a:noFill/>
          </a:ln>
        </p:spPr>
      </p:sp>
      <p:sp>
        <p:nvSpPr>
          <p:cNvPr id="14" name="Shape 14"/>
          <p:cNvSpPr/>
          <p:nvPr/>
        </p:nvSpPr>
        <p:spPr>
          <a:xfrm>
            <a:off x="3505200" y="2295525"/>
            <a:ext cx="438150" cy="285750"/>
          </a:xfrm>
          <a:prstGeom prst="rect">
            <a:avLst/>
          </a:prstGeom>
          <a:noFill/>
          <a:ln>
            <a:noFill/>
          </a:ln>
        </p:spPr>
        <p:txBody>
          <a:bodyPr wrap="square" anchor="ctr" lIns="38100" rIns="38100" tIns="38100" bIns="38100">
            <a:normAutofit/>
          </a:bodyPr>
          <a:lstStyle/>
          <a:p>
            <a:pPr algn="ctr"/>
            <a:lnSpc>
              <a:spcPct val="112000"/>
            </a:lnSpc>
            <a:r>
              <a:rPr lang="vi-VN" sz="1800" b="1" i="0" dirty="0">
                <a:solidFill>
                  <a:srgbClr val="FFFFFF"/>
                </a:solidFill>
                <a:latin typeface="Arial"/>
                <a:ea typeface="Arial"/>
              </a:rPr>
              <a:t xml:space="preserve">2</a:t>
            </a:r>
            <a:endParaRPr lang="vi-VN" sz="1800"/>
          </a:p>
        </p:txBody>
      </p:sp>
      <p:sp>
        <p:nvSpPr>
          <p:cNvPr id="15" name="Shape 15"/>
          <p:cNvSpPr/>
          <p:nvPr/>
        </p:nvSpPr>
        <p:spPr>
          <a:xfrm>
            <a:off x="3429000" y="3009900"/>
            <a:ext cx="2428875" cy="295275"/>
          </a:xfrm>
          <a:prstGeom prst="rect">
            <a:avLst/>
          </a:prstGeom>
          <a:noFill/>
          <a:ln>
            <a:noFill/>
          </a:ln>
        </p:spPr>
        <p:txBody>
          <a:bodyPr wrap="square" anchor="ctr" lIns="38100" rIns="38100" tIns="38100" bIns="38100">
            <a:normAutofit/>
          </a:bodyPr>
          <a:lstStyle/>
          <a:p>
            <a:pPr algn="l"/>
            <a:lnSpc>
              <a:spcPct val="112000"/>
            </a:lnSpc>
            <a:r>
              <a:rPr lang="vi-VN" sz="1500" b="1" i="0" dirty="0">
                <a:solidFill>
                  <a:srgbClr val="48B89A"/>
                </a:solidFill>
                <a:latin typeface="Arial"/>
                <a:ea typeface="Arial"/>
              </a:rPr>
              <a:t xml:space="preserve">PHÁT HÀNH</a:t>
            </a:r>
            <a:endParaRPr lang="vi-VN" sz="1500"/>
          </a:p>
        </p:txBody>
      </p:sp>
      <p:sp>
        <p:nvSpPr>
          <p:cNvPr id="16" name="Shape 16"/>
          <p:cNvSpPr/>
          <p:nvPr/>
        </p:nvSpPr>
        <p:spPr>
          <a:xfrm>
            <a:off x="3429000" y="3390900"/>
            <a:ext cx="2428875" cy="657225"/>
          </a:xfrm>
          <a:prstGeom prst="rect">
            <a:avLst/>
          </a:prstGeom>
          <a:noFill/>
          <a:ln>
            <a:noFill/>
          </a:ln>
        </p:spPr>
        <p:txBody>
          <a:bodyPr wrap="square" anchor="top" lIns="38100" rIns="38100" tIns="38100" bIns="38100">
            <a:normAutofit/>
          </a:bodyPr>
          <a:lstStyle/>
          <a:p>
            <a:pPr algn="l"/>
            <a:lnSpc>
              <a:spcPct val="112000"/>
            </a:lnSpc>
            <a:r>
              <a:rPr lang="vi-VN" sz="1800" b="1" i="0" dirty="0">
                <a:solidFill>
                  <a:srgbClr val="123B38"/>
                </a:solidFill>
                <a:latin typeface="Arial"/>
                <a:ea typeface="Arial"/>
              </a:rPr>
              <a:t xml:space="preserve">API kiểm tra</a:t>
            </a:r>
            <a:endParaRPr lang="vi-VN" sz="1800"/>
          </a:p>
          <a:p>
            <a:pPr algn="l"/>
            <a:lnSpc>
              <a:spcPct val="112000"/>
            </a:lnSpc>
            <a:r>
              <a:rPr lang="vi-VN" sz="1800" b="1" i="0" dirty="0">
                <a:solidFill>
                  <a:srgbClr val="123B38"/>
                </a:solidFill>
                <a:latin typeface="Arial"/>
                <a:ea typeface="Arial"/>
              </a:rPr>
              <a:t xml:space="preserve">version tăng</a:t>
            </a:r>
            <a:endParaRPr lang="vi-VN" sz="1800"/>
          </a:p>
        </p:txBody>
      </p:sp>
      <p:sp>
        <p:nvSpPr>
          <p:cNvPr id="17" name="Shape 17"/>
          <p:cNvSpPr/>
          <p:nvPr/>
        </p:nvSpPr>
        <p:spPr>
          <a:xfrm>
            <a:off x="6172200" y="2171700"/>
            <a:ext cx="590550" cy="590550"/>
          </a:xfrm>
          <a:prstGeom prst="roundRect">
            <a:avLst/>
          </a:prstGeom>
          <a:solidFill>
            <a:srgbClr val="E9AC51"/>
          </a:solidFill>
          <a:ln>
            <a:noFill/>
          </a:ln>
        </p:spPr>
      </p:sp>
      <p:sp>
        <p:nvSpPr>
          <p:cNvPr id="18" name="Shape 18"/>
          <p:cNvSpPr/>
          <p:nvPr/>
        </p:nvSpPr>
        <p:spPr>
          <a:xfrm>
            <a:off x="6248400" y="2295525"/>
            <a:ext cx="438150" cy="285750"/>
          </a:xfrm>
          <a:prstGeom prst="rect">
            <a:avLst/>
          </a:prstGeom>
          <a:noFill/>
          <a:ln>
            <a:noFill/>
          </a:ln>
        </p:spPr>
        <p:txBody>
          <a:bodyPr wrap="square" anchor="ctr" lIns="38100" rIns="38100" tIns="38100" bIns="38100">
            <a:normAutofit/>
          </a:bodyPr>
          <a:lstStyle/>
          <a:p>
            <a:pPr algn="ctr"/>
            <a:lnSpc>
              <a:spcPct val="112000"/>
            </a:lnSpc>
            <a:r>
              <a:rPr lang="vi-VN" sz="1800" b="1" i="0" dirty="0">
                <a:solidFill>
                  <a:srgbClr val="FFFFFF"/>
                </a:solidFill>
                <a:latin typeface="Arial"/>
                <a:ea typeface="Arial"/>
              </a:rPr>
              <a:t xml:space="preserve">3</a:t>
            </a:r>
            <a:endParaRPr lang="vi-VN" sz="1800"/>
          </a:p>
        </p:txBody>
      </p:sp>
      <p:sp>
        <p:nvSpPr>
          <p:cNvPr id="19" name="Shape 19"/>
          <p:cNvSpPr/>
          <p:nvPr/>
        </p:nvSpPr>
        <p:spPr>
          <a:xfrm>
            <a:off x="6172200" y="3009900"/>
            <a:ext cx="2428875" cy="295275"/>
          </a:xfrm>
          <a:prstGeom prst="rect">
            <a:avLst/>
          </a:prstGeom>
          <a:noFill/>
          <a:ln>
            <a:noFill/>
          </a:ln>
        </p:spPr>
        <p:txBody>
          <a:bodyPr wrap="square" anchor="ctr" lIns="38100" rIns="38100" tIns="38100" bIns="38100">
            <a:normAutofit/>
          </a:bodyPr>
          <a:lstStyle/>
          <a:p>
            <a:pPr algn="l"/>
            <a:lnSpc>
              <a:spcPct val="112000"/>
            </a:lnSpc>
            <a:r>
              <a:rPr lang="vi-VN" sz="1500" b="1" i="0" dirty="0">
                <a:solidFill>
                  <a:srgbClr val="E9AC51"/>
                </a:solidFill>
                <a:latin typeface="Arial"/>
                <a:ea typeface="Arial"/>
              </a:rPr>
              <a:t xml:space="preserve">KÝ POLICY</a:t>
            </a:r>
            <a:endParaRPr lang="vi-VN" sz="1500"/>
          </a:p>
        </p:txBody>
      </p:sp>
      <p:sp>
        <p:nvSpPr>
          <p:cNvPr id="20" name="Shape 20"/>
          <p:cNvSpPr/>
          <p:nvPr/>
        </p:nvSpPr>
        <p:spPr>
          <a:xfrm>
            <a:off x="6172200" y="3390900"/>
            <a:ext cx="2428875" cy="657225"/>
          </a:xfrm>
          <a:prstGeom prst="rect">
            <a:avLst/>
          </a:prstGeom>
          <a:noFill/>
          <a:ln>
            <a:noFill/>
          </a:ln>
        </p:spPr>
        <p:txBody>
          <a:bodyPr wrap="square" anchor="top" lIns="38100" rIns="38100" tIns="38100" bIns="38100">
            <a:normAutofit/>
          </a:bodyPr>
          <a:lstStyle/>
          <a:p>
            <a:pPr algn="l"/>
            <a:lnSpc>
              <a:spcPct val="112000"/>
            </a:lnSpc>
            <a:r>
              <a:rPr lang="vi-VN" sz="1800" b="1" i="0" dirty="0">
                <a:solidFill>
                  <a:srgbClr val="123B38"/>
                </a:solidFill>
                <a:latin typeface="Arial"/>
                <a:ea typeface="Arial"/>
              </a:rPr>
              <a:t xml:space="preserve">HMAC-SHA256</a:t>
            </a:r>
            <a:endParaRPr lang="vi-VN" sz="1800"/>
          </a:p>
          <a:p>
            <a:pPr algn="l"/>
            <a:lnSpc>
              <a:spcPct val="112000"/>
            </a:lnSpc>
            <a:r>
              <a:rPr lang="vi-VN" sz="1800" b="1" i="0" dirty="0">
                <a:solidFill>
                  <a:srgbClr val="123B38"/>
                </a:solidFill>
                <a:latin typeface="Arial"/>
                <a:ea typeface="Arial"/>
              </a:rPr>
              <a:t xml:space="preserve">version + payload</a:t>
            </a:r>
            <a:endParaRPr lang="vi-VN" sz="1800"/>
          </a:p>
        </p:txBody>
      </p:sp>
      <p:sp>
        <p:nvSpPr>
          <p:cNvPr id="21" name="Shape 21"/>
          <p:cNvSpPr/>
          <p:nvPr/>
        </p:nvSpPr>
        <p:spPr>
          <a:xfrm>
            <a:off x="8915400" y="2171700"/>
            <a:ext cx="590550" cy="590550"/>
          </a:xfrm>
          <a:prstGeom prst="roundRect">
            <a:avLst/>
          </a:prstGeom>
          <a:solidFill>
            <a:srgbClr val="168878"/>
          </a:solidFill>
          <a:ln>
            <a:noFill/>
          </a:ln>
        </p:spPr>
      </p:sp>
      <p:sp>
        <p:nvSpPr>
          <p:cNvPr id="22" name="Shape 22"/>
          <p:cNvSpPr/>
          <p:nvPr/>
        </p:nvSpPr>
        <p:spPr>
          <a:xfrm>
            <a:off x="8991600" y="2295525"/>
            <a:ext cx="438150" cy="285750"/>
          </a:xfrm>
          <a:prstGeom prst="rect">
            <a:avLst/>
          </a:prstGeom>
          <a:noFill/>
          <a:ln>
            <a:noFill/>
          </a:ln>
        </p:spPr>
        <p:txBody>
          <a:bodyPr wrap="square" anchor="ctr" lIns="38100" rIns="38100" tIns="38100" bIns="38100">
            <a:normAutofit/>
          </a:bodyPr>
          <a:lstStyle/>
          <a:p>
            <a:pPr algn="ctr"/>
            <a:lnSpc>
              <a:spcPct val="112000"/>
            </a:lnSpc>
            <a:r>
              <a:rPr lang="vi-VN" sz="1800" b="1" i="0" dirty="0">
                <a:solidFill>
                  <a:srgbClr val="FFFFFF"/>
                </a:solidFill>
                <a:latin typeface="Arial"/>
                <a:ea typeface="Arial"/>
              </a:rPr>
              <a:t xml:space="preserve">4</a:t>
            </a:r>
            <a:endParaRPr lang="vi-VN" sz="1800"/>
          </a:p>
        </p:txBody>
      </p:sp>
      <p:sp>
        <p:nvSpPr>
          <p:cNvPr id="23" name="Shape 23"/>
          <p:cNvSpPr/>
          <p:nvPr/>
        </p:nvSpPr>
        <p:spPr>
          <a:xfrm>
            <a:off x="8915400" y="3009900"/>
            <a:ext cx="2428875" cy="295275"/>
          </a:xfrm>
          <a:prstGeom prst="rect">
            <a:avLst/>
          </a:prstGeom>
          <a:noFill/>
          <a:ln>
            <a:noFill/>
          </a:ln>
        </p:spPr>
        <p:txBody>
          <a:bodyPr wrap="square" anchor="ctr" lIns="38100" rIns="38100" tIns="38100" bIns="38100">
            <a:normAutofit/>
          </a:bodyPr>
          <a:lstStyle/>
          <a:p>
            <a:pPr algn="l"/>
            <a:lnSpc>
              <a:spcPct val="112000"/>
            </a:lnSpc>
            <a:r>
              <a:rPr lang="vi-VN" sz="1500" b="1" i="0" dirty="0">
                <a:solidFill>
                  <a:srgbClr val="168878"/>
                </a:solidFill>
                <a:latin typeface="Arial"/>
                <a:ea typeface="Arial"/>
              </a:rPr>
              <a:t xml:space="preserve">ĐỒNG BỘ</a:t>
            </a:r>
            <a:endParaRPr lang="vi-VN" sz="1500"/>
          </a:p>
        </p:txBody>
      </p:sp>
      <p:sp>
        <p:nvSpPr>
          <p:cNvPr id="24" name="Shape 24"/>
          <p:cNvSpPr/>
          <p:nvPr/>
        </p:nvSpPr>
        <p:spPr>
          <a:xfrm>
            <a:off x="8915400" y="3390900"/>
            <a:ext cx="2428875" cy="657225"/>
          </a:xfrm>
          <a:prstGeom prst="rect">
            <a:avLst/>
          </a:prstGeom>
          <a:noFill/>
          <a:ln>
            <a:noFill/>
          </a:ln>
        </p:spPr>
        <p:txBody>
          <a:bodyPr wrap="square" anchor="top" lIns="38100" rIns="38100" tIns="38100" bIns="38100">
            <a:normAutofit/>
          </a:bodyPr>
          <a:lstStyle/>
          <a:p>
            <a:pPr algn="l"/>
            <a:lnSpc>
              <a:spcPct val="112000"/>
            </a:lnSpc>
            <a:r>
              <a:rPr lang="vi-VN" sz="1800" b="1" i="0" dirty="0">
                <a:solidFill>
                  <a:srgbClr val="123B38"/>
                </a:solidFill>
                <a:latin typeface="Arial"/>
                <a:ea typeface="Arial"/>
              </a:rPr>
              <a:t xml:space="preserve">Heartbeat; agent</a:t>
            </a:r>
            <a:endParaRPr lang="vi-VN" sz="1800"/>
          </a:p>
          <a:p>
            <a:pPr algn="l"/>
            <a:lnSpc>
              <a:spcPct val="112000"/>
            </a:lnSpc>
            <a:r>
              <a:rPr lang="vi-VN" sz="1800" b="1" i="0" dirty="0">
                <a:solidFill>
                  <a:srgbClr val="123B38"/>
                </a:solidFill>
                <a:latin typeface="Arial"/>
                <a:ea typeface="Arial"/>
              </a:rPr>
              <a:t xml:space="preserve">xác minh + cache</a:t>
            </a:r>
            <a:endParaRPr lang="vi-VN" sz="1800"/>
          </a:p>
        </p:txBody>
      </p:sp>
      <p:cxnSp>
        <p:nvCxnSpPr>
          <p:cNvPr id="25" name="Connector 25"/>
          <p:cNvCxnSpPr/>
          <p:nvPr/>
        </p:nvCxnSpPr>
        <p:spPr>
          <a:xfrm>
            <a:off x="2238375" y="2466975"/>
            <a:ext cx="895350" cy="0"/>
          </a:xfrm>
          <a:prstGeom prst="line">
            <a:avLst/>
          </a:prstGeom>
          <a:ln w="25400">
            <a:solidFill>
              <a:srgbClr val="B5CFC4"/>
            </a:solidFill>
            <a:tailEnd type="none"/>
            <a:headEnd type="triangle"/>
          </a:ln>
        </p:spPr>
      </p:cxnSp>
      <p:cxnSp>
        <p:nvCxnSpPr>
          <p:cNvPr id="26" name="Connector 26"/>
          <p:cNvCxnSpPr/>
          <p:nvPr/>
        </p:nvCxnSpPr>
        <p:spPr>
          <a:xfrm>
            <a:off x="4981575" y="2466975"/>
            <a:ext cx="895350" cy="0"/>
          </a:xfrm>
          <a:prstGeom prst="line">
            <a:avLst/>
          </a:prstGeom>
          <a:ln w="25400">
            <a:solidFill>
              <a:srgbClr val="B5CFC4"/>
            </a:solidFill>
            <a:tailEnd type="none"/>
            <a:headEnd type="triangle"/>
          </a:ln>
        </p:spPr>
      </p:cxnSp>
      <p:cxnSp>
        <p:nvCxnSpPr>
          <p:cNvPr id="27" name="Connector 27"/>
          <p:cNvCxnSpPr/>
          <p:nvPr/>
        </p:nvCxnSpPr>
        <p:spPr>
          <a:xfrm>
            <a:off x="7724775" y="2466975"/>
            <a:ext cx="895350" cy="0"/>
          </a:xfrm>
          <a:prstGeom prst="line">
            <a:avLst/>
          </a:prstGeom>
          <a:ln w="25400">
            <a:solidFill>
              <a:srgbClr val="B5CFC4"/>
            </a:solidFill>
            <a:tailEnd type="none"/>
            <a:headEnd type="triangle"/>
          </a:ln>
        </p:spPr>
      </p:cxnSp>
      <p:sp>
        <p:nvSpPr>
          <p:cNvPr id="28" name="Shape 28"/>
          <p:cNvSpPr/>
          <p:nvPr/>
        </p:nvSpPr>
        <p:spPr>
          <a:xfrm>
            <a:off x="685800" y="4514850"/>
            <a:ext cx="10839450" cy="1095375"/>
          </a:xfrm>
          <a:prstGeom prst="roundRect">
            <a:avLst/>
          </a:prstGeom>
          <a:solidFill>
            <a:srgbClr val="E7F2EC"/>
          </a:solidFill>
          <a:ln>
            <a:noFill/>
          </a:ln>
        </p:spPr>
      </p:sp>
      <p:sp>
        <p:nvSpPr>
          <p:cNvPr id="29" name="Shape 29"/>
          <p:cNvSpPr/>
          <p:nvPr/>
        </p:nvSpPr>
        <p:spPr>
          <a:xfrm>
            <a:off x="952500" y="4724400"/>
            <a:ext cx="10191750" cy="257175"/>
          </a:xfrm>
          <a:prstGeom prst="rect">
            <a:avLst/>
          </a:prstGeom>
          <a:noFill/>
          <a:ln>
            <a:noFill/>
          </a:ln>
        </p:spPr>
        <p:txBody>
          <a:bodyPr wrap="square" anchor="ctr" lIns="38100" rIns="38100" tIns="38100" bIns="38100">
            <a:normAutofit/>
          </a:bodyPr>
          <a:lstStyle/>
          <a:p>
            <a:pPr algn="l"/>
            <a:lnSpc>
              <a:spcPct val="112000"/>
            </a:lnSpc>
            <a:r>
              <a:rPr lang="vi-VN" sz="1300" b="1" i="0" dirty="0">
                <a:solidFill>
                  <a:srgbClr val="168878"/>
                </a:solidFill>
                <a:latin typeface="Arial"/>
                <a:ea typeface="Arial"/>
              </a:rPr>
              <a:t xml:space="preserve">AGENT TÍNH THỜI GIAN CỤC BỘ</a:t>
            </a:r>
            <a:endParaRPr lang="vi-VN" sz="1300"/>
          </a:p>
        </p:txBody>
      </p:sp>
      <p:sp>
        <p:nvSpPr>
          <p:cNvPr id="30" name="Shape 30"/>
          <p:cNvSpPr/>
          <p:nvPr/>
        </p:nvSpPr>
        <p:spPr>
          <a:xfrm>
            <a:off x="952500" y="5048250"/>
            <a:ext cx="10144125" cy="390525"/>
          </a:xfrm>
          <a:prstGeom prst="rect">
            <a:avLst/>
          </a:prstGeom>
          <a:noFill/>
          <a:ln>
            <a:noFill/>
          </a:ln>
        </p:spPr>
        <p:txBody>
          <a:bodyPr wrap="square" anchor="ctr" lIns="38100" rIns="38100" tIns="38100" bIns="38100">
            <a:normAutofit/>
          </a:bodyPr>
          <a:lstStyle/>
          <a:p>
            <a:pPr algn="l"/>
            <a:lnSpc>
              <a:spcPct val="112000"/>
            </a:lnSpc>
            <a:r>
              <a:rPr lang="vi-VN" sz="1700" b="1" i="0" dirty="0">
                <a:solidFill>
                  <a:srgbClr val="123B38"/>
                </a:solidFill>
                <a:latin typeface="Arial"/>
                <a:ea typeface="Arial"/>
              </a:rPr>
              <a:t xml:space="preserve">Theo lịch, trạng thái idle/khóa và quota; cảnh báo ở các mốc còn 10, 5, 1 phút.</a:t>
            </a:r>
            <a:endParaRPr lang="vi-VN" sz="1700"/>
          </a:p>
        </p:txBody>
      </p:sp>
      <p:sp>
        <p:nvSpPr>
          <p:cNvPr id="31" name="Shape 31"/>
          <p:cNvSpPr/>
          <p:nvPr/>
        </p:nvSpPr>
        <p:spPr>
          <a:xfrm>
            <a:off x="685800" y="5857875"/>
            <a:ext cx="10820400" cy="247650"/>
          </a:xfrm>
          <a:prstGeom prst="rect">
            <a:avLst/>
          </a:prstGeom>
          <a:noFill/>
          <a:ln>
            <a:noFill/>
          </a:ln>
        </p:spPr>
        <p:txBody>
          <a:bodyPr wrap="square" anchor="ctr" lIns="38100" rIns="38100" tIns="38100" bIns="38100">
            <a:normAutofit/>
          </a:bodyPr>
          <a:lstStyle/>
          <a:p>
            <a:pPr algn="l"/>
            <a:lnSpc>
              <a:spcPct val="112000"/>
            </a:lnSpc>
            <a:r>
              <a:rPr lang="vi-VN" sz="1300" b="0" i="0" dirty="0">
                <a:solidFill>
                  <a:srgbClr val="617A75"/>
                </a:solidFill>
                <a:latin typeface="Arial"/>
                <a:ea typeface="Arial"/>
              </a:rPr>
              <a:t xml:space="preserve">Khóa Windows tắt mặc định; chỉ gọi khi bật cờ rõ ràng trên máy lab.</a:t>
            </a:r>
            <a:endParaRPr lang="vi-VN" sz="13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>
  <p:cSld>
    <p:bg>
      <p:bgPr>
        <a:solidFill>
          <a:srgbClr val="F5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7F2"/>
          </a:solidFill>
          <a:ln>
            <a:noFill/>
          </a:ln>
        </p:spPr>
      </p:sp>
      <p:sp>
        <p:nvSpPr>
          <p:cNvPr id="3" name="Shape 3"/>
          <p:cNvSpPr/>
          <p:nvPr/>
        </p:nvSpPr>
        <p:spPr>
          <a:xfrm>
            <a:off x="0" y="0"/>
            <a:ext cx="133350" cy="6858000"/>
          </a:xfrm>
          <a:prstGeom prst="rect">
            <a:avLst/>
          </a:prstGeom>
          <a:solidFill>
            <a:srgbClr val="168878"/>
          </a:solidFill>
          <a:ln>
            <a:noFill/>
          </a:ln>
        </p:spPr>
      </p:sp>
      <p:sp>
        <p:nvSpPr>
          <p:cNvPr id="4" name="Shape 4"/>
          <p:cNvSpPr/>
          <p:nvPr/>
        </p:nvSpPr>
        <p:spPr>
          <a:xfrm>
            <a:off x="609600" y="323850"/>
            <a:ext cx="9525000" cy="238125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>
            <a:normAutofit/>
          </a:bodyPr>
          <a:lstStyle/>
          <a:p>
            <a:pPr algn="l"/>
            <a:lnSpc>
              <a:spcPct val="112000"/>
            </a:lnSpc>
            <a:r>
              <a:rPr lang="vi-VN" sz="1200" b="1" dirty="0">
                <a:solidFill>
                  <a:srgbClr val="168878"/>
                </a:solidFill>
                <a:latin typeface="Arial"/>
                <a:ea typeface="Arial"/>
              </a:rPr>
              <a:t xml:space="preserve">05  /  TRẢI NGHIỆM GIA ĐÌNH</a:t>
            </a:r>
            <a:endParaRPr lang="vi-VN" sz="1200"/>
          </a:p>
        </p:txBody>
      </p:sp>
      <p:sp>
        <p:nvSpPr>
          <p:cNvPr id="5" name="Shape 5"/>
          <p:cNvSpPr/>
          <p:nvPr/>
        </p:nvSpPr>
        <p:spPr>
          <a:xfrm>
            <a:off x="609600" y="600075"/>
            <a:ext cx="10668000" cy="51435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>
            <a:normAutofit/>
          </a:bodyPr>
          <a:lstStyle/>
          <a:p>
            <a:pPr algn="l"/>
            <a:lnSpc>
              <a:spcPct val="112000"/>
            </a:lnSpc>
            <a:r>
              <a:rPr lang="vi-VN" sz="3100" b="1" dirty="0">
                <a:solidFill>
                  <a:srgbClr val="123B38"/>
                </a:solidFill>
                <a:latin typeface="Arial"/>
                <a:ea typeface="Arial"/>
              </a:rPr>
              <a:t xml:space="preserve">Ví dụ luồng: xin thêm 15 phút</a:t>
            </a:r>
            <a:endParaRPr lang="vi-VN" sz="3100"/>
          </a:p>
        </p:txBody>
      </p:sp>
      <p:sp>
        <p:nvSpPr>
          <p:cNvPr id="6" name="Shape 6"/>
          <p:cNvSpPr/>
          <p:nvPr/>
        </p:nvSpPr>
        <p:spPr>
          <a:xfrm>
            <a:off x="609600" y="1219200"/>
            <a:ext cx="10953750" cy="9525"/>
          </a:xfrm>
          <a:prstGeom prst="rect">
            <a:avLst/>
          </a:prstGeom>
          <a:solidFill>
            <a:srgbClr val="D9E7E0"/>
          </a:solidFill>
          <a:ln>
            <a:noFill/>
          </a:ln>
        </p:spPr>
      </p:sp>
      <p:sp>
        <p:nvSpPr>
          <p:cNvPr id="7" name="Shape 7"/>
          <p:cNvSpPr/>
          <p:nvPr/>
        </p:nvSpPr>
        <p:spPr>
          <a:xfrm>
            <a:off x="685800" y="1419225"/>
            <a:ext cx="1057275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>
            <a:normAutofit/>
          </a:bodyPr>
          <a:lstStyle/>
          <a:p>
            <a:pPr algn="l"/>
            <a:lnSpc>
              <a:spcPct val="112000"/>
            </a:lnSpc>
            <a:r>
              <a:rPr lang="vi-VN" sz="1600" b="0" dirty="0">
                <a:solidFill>
                  <a:srgbClr val="617A75"/>
                </a:solidFill>
                <a:latin typeface="Arial"/>
                <a:ea typeface="Arial"/>
              </a:rPr>
              <a:t xml:space="preserve">Từ thao tác của trẻ đến phản hồi phụ huynh và trạng thái hiển thị lại.</a:t>
            </a:r>
            <a:endParaRPr lang="vi-VN" sz="1600"/>
          </a:p>
        </p:txBody>
      </p:sp>
      <p:sp>
        <p:nvSpPr>
          <p:cNvPr id="8" name="Shape 8"/>
          <p:cNvSpPr/>
          <p:nvPr/>
        </p:nvSpPr>
        <p:spPr>
          <a:xfrm>
            <a:off x="685800" y="1809750"/>
            <a:ext cx="2238375" cy="1066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5DE"/>
            </a:solidFill>
          </a:ln>
        </p:spPr>
      </p:sp>
      <p:sp>
        <p:nvSpPr>
          <p:cNvPr id="9" name="Shape 9"/>
          <p:cNvSpPr/>
          <p:nvPr/>
        </p:nvSpPr>
        <p:spPr>
          <a:xfrm>
            <a:off x="819150" y="1943100"/>
            <a:ext cx="295275" cy="295275"/>
          </a:xfrm>
          <a:prstGeom prst="ellipse">
            <a:avLst/>
          </a:prstGeom>
          <a:solidFill>
            <a:srgbClr val="168878"/>
          </a:solidFill>
          <a:ln>
            <a:noFill/>
          </a:ln>
        </p:spPr>
      </p:sp>
      <p:sp>
        <p:nvSpPr>
          <p:cNvPr id="10" name="Shape 10"/>
          <p:cNvSpPr/>
          <p:nvPr/>
        </p:nvSpPr>
        <p:spPr>
          <a:xfrm>
            <a:off x="847725" y="1971675"/>
            <a:ext cx="238125" cy="2286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>
            <a:normAutofit/>
          </a:bodyPr>
          <a:lstStyle/>
          <a:p>
            <a:pPr algn="ctr"/>
            <a:lnSpc>
              <a:spcPct val="112000"/>
            </a:lnSpc>
            <a:r>
              <a:rPr lang="vi-VN" sz="1200" b="1" dirty="0">
                <a:solidFill>
                  <a:srgbClr val="FFFFFF"/>
                </a:solidFill>
                <a:latin typeface="Arial"/>
                <a:ea typeface="Arial"/>
              </a:rPr>
              <a:t xml:space="preserve">1</a:t>
            </a:r>
            <a:endParaRPr lang="vi-VN" sz="1200"/>
          </a:p>
        </p:txBody>
      </p:sp>
      <p:sp>
        <p:nvSpPr>
          <p:cNvPr id="11" name="Shape 11"/>
          <p:cNvSpPr/>
          <p:nvPr/>
        </p:nvSpPr>
        <p:spPr>
          <a:xfrm>
            <a:off x="1200150" y="1933575"/>
            <a:ext cx="1600200" cy="285750"/>
          </a:xfrm>
          <a:prstGeom prst="rect">
            <a:avLst/>
          </a:prstGeom>
          <a:noFill/>
          <a:ln>
            <a:noFill/>
          </a:ln>
        </p:spPr>
        <p:txBody>
          <a:bodyPr wrap="square" anchor="ctr" lIns="19050" rIns="19050" tIns="19050" bIns="19050">
            <a:normAutofit/>
          </a:bodyPr>
          <a:lstStyle/>
          <a:p>
            <a:pPr algn="l"/>
            <a:lnSpc>
              <a:spcPct val="112000"/>
            </a:lnSpc>
            <a:r>
              <a:rPr lang="vi-VN" sz="1200" b="1" dirty="0">
                <a:solidFill>
                  <a:srgbClr val="168878"/>
                </a:solidFill>
                <a:latin typeface="Arial"/>
                <a:ea typeface="Arial"/>
              </a:rPr>
              <a:t xml:space="preserve">TRẺ · TRANG CHILD</a:t>
            </a:r>
            <a:endParaRPr lang="vi-VN" sz="1200"/>
          </a:p>
        </p:txBody>
      </p:sp>
      <p:sp>
        <p:nvSpPr>
          <p:cNvPr id="12" name="Shape 12"/>
          <p:cNvSpPr/>
          <p:nvPr/>
        </p:nvSpPr>
        <p:spPr>
          <a:xfrm>
            <a:off x="819150" y="2295525"/>
            <a:ext cx="1971675" cy="466725"/>
          </a:xfrm>
          <a:prstGeom prst="rect">
            <a:avLst/>
          </a:prstGeom>
          <a:noFill/>
          <a:ln>
            <a:noFill/>
          </a:ln>
        </p:spPr>
        <p:txBody>
          <a:bodyPr wrap="square" anchor="ctr" lIns="28575" rIns="28575" tIns="28575" bIns="28575">
            <a:normAutofit/>
          </a:bodyPr>
          <a:lstStyle/>
          <a:p>
            <a:pPr algn="ctr"/>
            <a:lnSpc>
              <a:spcPct val="112000"/>
            </a:lnSpc>
            <a:r>
              <a:rPr lang="vi-VN" sz="1500" b="1" dirty="0">
                <a:solidFill>
                  <a:srgbClr val="123B38"/>
                </a:solidFill>
                <a:latin typeface="Arial"/>
                <a:ea typeface="Arial"/>
              </a:rPr>
              <a:t xml:space="preserve">Nhấn “Xin thêm</a:t>
            </a:r>
            <a:endParaRPr lang="vi-VN" sz="1500"/>
          </a:p>
          <a:p>
            <a:pPr algn="ctr"/>
            <a:lnSpc>
              <a:spcPct val="112000"/>
            </a:lnSpc>
            <a:r>
              <a:rPr lang="vi-VN" sz="1500" b="1" dirty="0">
                <a:solidFill>
                  <a:srgbClr val="123B38"/>
                </a:solidFill>
                <a:latin typeface="Arial"/>
                <a:ea typeface="Arial"/>
              </a:rPr>
              <a:t xml:space="preserve">15 phút”</a:t>
            </a:r>
            <a:endParaRPr lang="vi-VN" sz="1500"/>
          </a:p>
        </p:txBody>
      </p:sp>
      <p:sp>
        <p:nvSpPr>
          <p:cNvPr id="13" name="Shape 13"/>
          <p:cNvSpPr/>
          <p:nvPr/>
        </p:nvSpPr>
        <p:spPr>
          <a:xfrm>
            <a:off x="3476625" y="1809750"/>
            <a:ext cx="2238375" cy="1066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5DE"/>
            </a:solidFill>
          </a:ln>
        </p:spPr>
      </p:sp>
      <p:sp>
        <p:nvSpPr>
          <p:cNvPr id="14" name="Shape 14"/>
          <p:cNvSpPr/>
          <p:nvPr/>
        </p:nvSpPr>
        <p:spPr>
          <a:xfrm>
            <a:off x="3609975" y="1943100"/>
            <a:ext cx="295275" cy="295275"/>
          </a:xfrm>
          <a:prstGeom prst="ellipse">
            <a:avLst/>
          </a:prstGeom>
          <a:solidFill>
            <a:srgbClr val="48B89A"/>
          </a:solidFill>
          <a:ln>
            <a:noFill/>
          </a:ln>
        </p:spPr>
      </p:sp>
      <p:sp>
        <p:nvSpPr>
          <p:cNvPr id="15" name="Shape 15"/>
          <p:cNvSpPr/>
          <p:nvPr/>
        </p:nvSpPr>
        <p:spPr>
          <a:xfrm>
            <a:off x="3638550" y="1971675"/>
            <a:ext cx="238125" cy="2286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>
            <a:normAutofit/>
          </a:bodyPr>
          <a:lstStyle/>
          <a:p>
            <a:pPr algn="ctr"/>
            <a:lnSpc>
              <a:spcPct val="112000"/>
            </a:lnSpc>
            <a:r>
              <a:rPr lang="vi-VN" sz="1200" b="1" dirty="0">
                <a:solidFill>
                  <a:srgbClr val="FFFFFF"/>
                </a:solidFill>
                <a:latin typeface="Arial"/>
                <a:ea typeface="Arial"/>
              </a:rPr>
              <a:t xml:space="preserve">2</a:t>
            </a:r>
            <a:endParaRPr lang="vi-VN" sz="1200"/>
          </a:p>
        </p:txBody>
      </p:sp>
      <p:sp>
        <p:nvSpPr>
          <p:cNvPr id="16" name="Shape 16"/>
          <p:cNvSpPr/>
          <p:nvPr/>
        </p:nvSpPr>
        <p:spPr>
          <a:xfrm>
            <a:off x="3990975" y="1933575"/>
            <a:ext cx="1600200" cy="285750"/>
          </a:xfrm>
          <a:prstGeom prst="rect">
            <a:avLst/>
          </a:prstGeom>
          <a:noFill/>
          <a:ln>
            <a:noFill/>
          </a:ln>
        </p:spPr>
        <p:txBody>
          <a:bodyPr wrap="square" anchor="ctr" lIns="19050" rIns="19050" tIns="19050" bIns="19050">
            <a:normAutofit/>
          </a:bodyPr>
          <a:lstStyle/>
          <a:p>
            <a:pPr algn="l"/>
            <a:lnSpc>
              <a:spcPct val="112000"/>
            </a:lnSpc>
            <a:r>
              <a:rPr lang="vi-VN" sz="1200" b="1" dirty="0">
                <a:solidFill>
                  <a:srgbClr val="48B89A"/>
                </a:solidFill>
                <a:latin typeface="Arial"/>
                <a:ea typeface="Arial"/>
              </a:rPr>
              <a:t xml:space="preserve">POST REQUEST</a:t>
            </a:r>
            <a:endParaRPr lang="vi-VN" sz="1200"/>
          </a:p>
        </p:txBody>
      </p:sp>
      <p:sp>
        <p:nvSpPr>
          <p:cNvPr id="17" name="Shape 17"/>
          <p:cNvSpPr/>
          <p:nvPr/>
        </p:nvSpPr>
        <p:spPr>
          <a:xfrm>
            <a:off x="3609975" y="2295525"/>
            <a:ext cx="1971675" cy="466725"/>
          </a:xfrm>
          <a:prstGeom prst="rect">
            <a:avLst/>
          </a:prstGeom>
          <a:noFill/>
          <a:ln>
            <a:noFill/>
          </a:ln>
        </p:spPr>
        <p:txBody>
          <a:bodyPr wrap="square" anchor="ctr" lIns="28575" rIns="28575" tIns="28575" bIns="28575">
            <a:normAutofit/>
          </a:bodyPr>
          <a:lstStyle/>
          <a:p>
            <a:pPr algn="ctr"/>
            <a:lnSpc>
              <a:spcPct val="112000"/>
            </a:lnSpc>
            <a:r>
              <a:rPr lang="vi-VN" sz="1500" b="1" dirty="0">
                <a:solidFill>
                  <a:srgbClr val="123B38"/>
                </a:solidFill>
                <a:latin typeface="Arial"/>
                <a:ea typeface="Arial"/>
              </a:rPr>
              <a:t xml:space="preserve">/api/child-requests</a:t>
            </a:r>
            <a:endParaRPr lang="vi-VN" sz="1500"/>
          </a:p>
          <a:p>
            <a:pPr algn="ctr"/>
            <a:lnSpc>
              <a:spcPct val="112000"/>
            </a:lnSpc>
            <a:r>
              <a:rPr lang="vi-VN" sz="1500" b="1" dirty="0">
                <a:solidFill>
                  <a:srgbClr val="123B38"/>
                </a:solidFill>
                <a:latin typeface="Arial"/>
                <a:ea typeface="Arial"/>
              </a:rPr>
              <a:t xml:space="preserve">child_id · device_id</a:t>
            </a:r>
            <a:endParaRPr lang="vi-VN" sz="1500"/>
          </a:p>
        </p:txBody>
      </p:sp>
      <p:sp>
        <p:nvSpPr>
          <p:cNvPr id="18" name="Shape 18"/>
          <p:cNvSpPr/>
          <p:nvPr/>
        </p:nvSpPr>
        <p:spPr>
          <a:xfrm>
            <a:off x="6267450" y="1809750"/>
            <a:ext cx="2238375" cy="1066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5DE"/>
            </a:solidFill>
          </a:ln>
        </p:spPr>
      </p:sp>
      <p:sp>
        <p:nvSpPr>
          <p:cNvPr id="19" name="Shape 19"/>
          <p:cNvSpPr/>
          <p:nvPr/>
        </p:nvSpPr>
        <p:spPr>
          <a:xfrm>
            <a:off x="6400800" y="1943100"/>
            <a:ext cx="295275" cy="295275"/>
          </a:xfrm>
          <a:prstGeom prst="ellipse">
            <a:avLst/>
          </a:prstGeom>
          <a:solidFill>
            <a:srgbClr val="E9AC51"/>
          </a:solidFill>
          <a:ln>
            <a:noFill/>
          </a:ln>
        </p:spPr>
      </p:sp>
      <p:sp>
        <p:nvSpPr>
          <p:cNvPr id="20" name="Shape 20"/>
          <p:cNvSpPr/>
          <p:nvPr/>
        </p:nvSpPr>
        <p:spPr>
          <a:xfrm>
            <a:off x="6429375" y="1971675"/>
            <a:ext cx="238125" cy="2286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>
            <a:normAutofit/>
          </a:bodyPr>
          <a:lstStyle/>
          <a:p>
            <a:pPr algn="ctr"/>
            <a:lnSpc>
              <a:spcPct val="112000"/>
            </a:lnSpc>
            <a:r>
              <a:rPr lang="vi-VN" sz="1200" b="1" dirty="0">
                <a:solidFill>
                  <a:srgbClr val="FFFFFF"/>
                </a:solidFill>
                <a:latin typeface="Arial"/>
                <a:ea typeface="Arial"/>
              </a:rPr>
              <a:t xml:space="preserve">3</a:t>
            </a:r>
            <a:endParaRPr lang="vi-VN" sz="1200"/>
          </a:p>
        </p:txBody>
      </p:sp>
      <p:sp>
        <p:nvSpPr>
          <p:cNvPr id="21" name="Shape 21"/>
          <p:cNvSpPr/>
          <p:nvPr/>
        </p:nvSpPr>
        <p:spPr>
          <a:xfrm>
            <a:off x="6781800" y="1933575"/>
            <a:ext cx="1600200" cy="285750"/>
          </a:xfrm>
          <a:prstGeom prst="rect">
            <a:avLst/>
          </a:prstGeom>
          <a:noFill/>
          <a:ln>
            <a:noFill/>
          </a:ln>
        </p:spPr>
        <p:txBody>
          <a:bodyPr wrap="square" anchor="ctr" lIns="19050" rIns="19050" tIns="19050" bIns="19050">
            <a:normAutofit/>
          </a:bodyPr>
          <a:lstStyle/>
          <a:p>
            <a:pPr algn="l"/>
            <a:lnSpc>
              <a:spcPct val="112000"/>
            </a:lnSpc>
            <a:r>
              <a:rPr lang="vi-VN" sz="1200" b="1" dirty="0">
                <a:solidFill>
                  <a:srgbClr val="E9AC51"/>
                </a:solidFill>
                <a:latin typeface="Arial"/>
                <a:ea typeface="Arial"/>
              </a:rPr>
              <a:t xml:space="preserve">FASTAPI KIỂM TRA</a:t>
            </a:r>
            <a:endParaRPr lang="vi-VN" sz="1200"/>
          </a:p>
        </p:txBody>
      </p:sp>
      <p:sp>
        <p:nvSpPr>
          <p:cNvPr id="22" name="Shape 22"/>
          <p:cNvSpPr/>
          <p:nvPr/>
        </p:nvSpPr>
        <p:spPr>
          <a:xfrm>
            <a:off x="6400800" y="2295525"/>
            <a:ext cx="1971675" cy="466725"/>
          </a:xfrm>
          <a:prstGeom prst="rect">
            <a:avLst/>
          </a:prstGeom>
          <a:noFill/>
          <a:ln>
            <a:noFill/>
          </a:ln>
        </p:spPr>
        <p:txBody>
          <a:bodyPr wrap="square" anchor="ctr" lIns="28575" rIns="28575" tIns="28575" bIns="28575">
            <a:normAutofit/>
          </a:bodyPr>
          <a:lstStyle/>
          <a:p>
            <a:pPr algn="ctr"/>
            <a:lnSpc>
              <a:spcPct val="112000"/>
            </a:lnSpc>
            <a:r>
              <a:rPr lang="vi-VN" sz="1500" b="1" dirty="0">
                <a:solidFill>
                  <a:srgbClr val="123B38"/>
                </a:solidFill>
                <a:latin typeface="Arial"/>
                <a:ea typeface="Arial"/>
              </a:rPr>
              <a:t xml:space="preserve">Thiết bị thuộc hồ sơ?</a:t>
            </a:r>
            <a:endParaRPr lang="vi-VN" sz="1500"/>
          </a:p>
          <a:p>
            <a:pPr algn="ctr"/>
            <a:lnSpc>
              <a:spcPct val="112000"/>
            </a:lnSpc>
            <a:r>
              <a:rPr lang="vi-VN" sz="1500" b="1" dirty="0">
                <a:solidFill>
                  <a:srgbClr val="123B38"/>
                </a:solidFill>
                <a:latin typeface="Arial"/>
                <a:ea typeface="Arial"/>
              </a:rPr>
              <a:t xml:space="preserve">Không khớp → HTTP 404</a:t>
            </a:r>
            <a:endParaRPr lang="vi-VN" sz="1500"/>
          </a:p>
        </p:txBody>
      </p:sp>
      <p:sp>
        <p:nvSpPr>
          <p:cNvPr id="23" name="Shape 23"/>
          <p:cNvSpPr/>
          <p:nvPr/>
        </p:nvSpPr>
        <p:spPr>
          <a:xfrm>
            <a:off x="9058275" y="1809750"/>
            <a:ext cx="2238375" cy="1066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5DE"/>
            </a:solidFill>
          </a:ln>
        </p:spPr>
      </p:sp>
      <p:sp>
        <p:nvSpPr>
          <p:cNvPr id="24" name="Shape 24"/>
          <p:cNvSpPr/>
          <p:nvPr/>
        </p:nvSpPr>
        <p:spPr>
          <a:xfrm>
            <a:off x="9191625" y="1943100"/>
            <a:ext cx="295275" cy="295275"/>
          </a:xfrm>
          <a:prstGeom prst="ellipse">
            <a:avLst/>
          </a:prstGeom>
          <a:solidFill>
            <a:srgbClr val="168878"/>
          </a:solidFill>
          <a:ln>
            <a:noFill/>
          </a:ln>
        </p:spPr>
      </p:sp>
      <p:sp>
        <p:nvSpPr>
          <p:cNvPr id="25" name="Shape 25"/>
          <p:cNvSpPr/>
          <p:nvPr/>
        </p:nvSpPr>
        <p:spPr>
          <a:xfrm>
            <a:off x="9220200" y="1971675"/>
            <a:ext cx="238125" cy="2286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>
            <a:normAutofit/>
          </a:bodyPr>
          <a:lstStyle/>
          <a:p>
            <a:pPr algn="ctr"/>
            <a:lnSpc>
              <a:spcPct val="112000"/>
            </a:lnSpc>
            <a:r>
              <a:rPr lang="vi-VN" sz="1200" b="1" dirty="0">
                <a:solidFill>
                  <a:srgbClr val="FFFFFF"/>
                </a:solidFill>
                <a:latin typeface="Arial"/>
                <a:ea typeface="Arial"/>
              </a:rPr>
              <a:t xml:space="preserve">4</a:t>
            </a:r>
            <a:endParaRPr lang="vi-VN" sz="1200"/>
          </a:p>
        </p:txBody>
      </p:sp>
      <p:sp>
        <p:nvSpPr>
          <p:cNvPr id="26" name="Shape 26"/>
          <p:cNvSpPr/>
          <p:nvPr/>
        </p:nvSpPr>
        <p:spPr>
          <a:xfrm>
            <a:off x="9572625" y="1933575"/>
            <a:ext cx="1600200" cy="285750"/>
          </a:xfrm>
          <a:prstGeom prst="rect">
            <a:avLst/>
          </a:prstGeom>
          <a:noFill/>
          <a:ln>
            <a:noFill/>
          </a:ln>
        </p:spPr>
        <p:txBody>
          <a:bodyPr wrap="square" anchor="ctr" lIns="19050" rIns="19050" tIns="19050" bIns="19050">
            <a:normAutofit/>
          </a:bodyPr>
          <a:lstStyle/>
          <a:p>
            <a:pPr algn="l"/>
            <a:lnSpc>
              <a:spcPct val="112000"/>
            </a:lnSpc>
            <a:r>
              <a:rPr lang="vi-VN" sz="1200" b="1" dirty="0">
                <a:solidFill>
                  <a:srgbClr val="168878"/>
                </a:solidFill>
                <a:latin typeface="Arial"/>
                <a:ea typeface="Arial"/>
              </a:rPr>
              <a:t xml:space="preserve">SQLITE · PENDING</a:t>
            </a:r>
            <a:endParaRPr lang="vi-VN" sz="1200"/>
          </a:p>
        </p:txBody>
      </p:sp>
      <p:sp>
        <p:nvSpPr>
          <p:cNvPr id="27" name="Shape 27"/>
          <p:cNvSpPr/>
          <p:nvPr/>
        </p:nvSpPr>
        <p:spPr>
          <a:xfrm>
            <a:off x="9191625" y="2295525"/>
            <a:ext cx="1971675" cy="466725"/>
          </a:xfrm>
          <a:prstGeom prst="rect">
            <a:avLst/>
          </a:prstGeom>
          <a:noFill/>
          <a:ln>
            <a:noFill/>
          </a:ln>
        </p:spPr>
        <p:txBody>
          <a:bodyPr wrap="square" anchor="ctr" lIns="28575" rIns="28575" tIns="28575" bIns="28575">
            <a:normAutofit/>
          </a:bodyPr>
          <a:lstStyle/>
          <a:p>
            <a:pPr algn="ctr"/>
            <a:lnSpc>
              <a:spcPct val="112000"/>
            </a:lnSpc>
            <a:r>
              <a:rPr lang="vi-VN" sz="1500" b="1" dirty="0">
                <a:solidFill>
                  <a:srgbClr val="123B38"/>
                </a:solidFill>
                <a:latin typeface="Arial"/>
                <a:ea typeface="Arial"/>
              </a:rPr>
              <a:t xml:space="preserve">ChildRequest + Event</a:t>
            </a:r>
            <a:endParaRPr lang="vi-VN" sz="1500"/>
          </a:p>
          <a:p>
            <a:pPr algn="ctr"/>
            <a:lnSpc>
              <a:spcPct val="112000"/>
            </a:lnSpc>
            <a:r>
              <a:rPr lang="vi-VN" sz="1500" b="1" dirty="0">
                <a:solidFill>
                  <a:srgbClr val="123B38"/>
                </a:solidFill>
                <a:latin typeface="Arial"/>
                <a:ea typeface="Arial"/>
              </a:rPr>
              <a:t xml:space="preserve">unlock_request</a:t>
            </a:r>
            <a:endParaRPr lang="vi-VN" sz="1500"/>
          </a:p>
        </p:txBody>
      </p:sp>
      <p:cxnSp>
        <p:nvCxnSpPr>
          <p:cNvPr id="28" name="Arrow 28"/>
          <p:cNvCxnSpPr/>
          <p:nvPr/>
        </p:nvCxnSpPr>
        <p:spPr>
          <a:xfrm>
            <a:off x="2924175" y="2343150"/>
            <a:ext cx="552450" cy="0"/>
          </a:xfrm>
          <a:prstGeom prst="line">
            <a:avLst/>
          </a:prstGeom>
          <a:ln w="25400">
            <a:solidFill>
              <a:srgbClr val="91B8A9"/>
            </a:solidFill>
            <a:tailEnd type="none"/>
            <a:headEnd type="triangle"/>
          </a:ln>
        </p:spPr>
      </p:cxnSp>
      <p:cxnSp>
        <p:nvCxnSpPr>
          <p:cNvPr id="29" name="Arrow 29"/>
          <p:cNvCxnSpPr/>
          <p:nvPr/>
        </p:nvCxnSpPr>
        <p:spPr>
          <a:xfrm>
            <a:off x="5715000" y="2343150"/>
            <a:ext cx="552450" cy="0"/>
          </a:xfrm>
          <a:prstGeom prst="line">
            <a:avLst/>
          </a:prstGeom>
          <a:ln w="25400">
            <a:solidFill>
              <a:srgbClr val="91B8A9"/>
            </a:solidFill>
            <a:tailEnd type="none"/>
            <a:headEnd type="triangle"/>
          </a:ln>
        </p:spPr>
      </p:cxnSp>
      <p:cxnSp>
        <p:nvCxnSpPr>
          <p:cNvPr id="30" name="Arrow 30"/>
          <p:cNvCxnSpPr/>
          <p:nvPr/>
        </p:nvCxnSpPr>
        <p:spPr>
          <a:xfrm>
            <a:off x="8505825" y="2343150"/>
            <a:ext cx="552450" cy="0"/>
          </a:xfrm>
          <a:prstGeom prst="line">
            <a:avLst/>
          </a:prstGeom>
          <a:ln w="25400">
            <a:solidFill>
              <a:srgbClr val="91B8A9"/>
            </a:solidFill>
            <a:tailEnd type="none"/>
            <a:headEnd type="triangle"/>
          </a:ln>
        </p:spPr>
      </p:cxnSp>
      <p:sp>
        <p:nvSpPr>
          <p:cNvPr id="32" name="Shape 32"/>
          <p:cNvSpPr/>
          <p:nvPr/>
        </p:nvSpPr>
        <p:spPr>
          <a:xfrm>
            <a:off x="9058275" y="3676650"/>
            <a:ext cx="2238375" cy="1066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5DE"/>
            </a:solidFill>
          </a:ln>
        </p:spPr>
      </p:sp>
      <p:sp>
        <p:nvSpPr>
          <p:cNvPr id="33" name="Shape 33"/>
          <p:cNvSpPr/>
          <p:nvPr/>
        </p:nvSpPr>
        <p:spPr>
          <a:xfrm>
            <a:off x="9191625" y="3810000"/>
            <a:ext cx="295275" cy="295275"/>
          </a:xfrm>
          <a:prstGeom prst="ellipse">
            <a:avLst/>
          </a:prstGeom>
          <a:solidFill>
            <a:srgbClr val="168878"/>
          </a:solidFill>
          <a:ln>
            <a:noFill/>
          </a:ln>
        </p:spPr>
      </p:sp>
      <p:sp>
        <p:nvSpPr>
          <p:cNvPr id="34" name="Shape 34"/>
          <p:cNvSpPr/>
          <p:nvPr/>
        </p:nvSpPr>
        <p:spPr>
          <a:xfrm>
            <a:off x="9220200" y="3838575"/>
            <a:ext cx="238125" cy="2286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>
            <a:normAutofit/>
          </a:bodyPr>
          <a:lstStyle/>
          <a:p>
            <a:pPr algn="ctr"/>
            <a:lnSpc>
              <a:spcPct val="112000"/>
            </a:lnSpc>
            <a:r>
              <a:rPr lang="vi-VN" sz="1200" b="1" dirty="0">
                <a:solidFill>
                  <a:srgbClr val="FFFFFF"/>
                </a:solidFill>
                <a:latin typeface="Arial"/>
                <a:ea typeface="Arial"/>
              </a:rPr>
              <a:t xml:space="preserve">5</a:t>
            </a:r>
            <a:endParaRPr lang="vi-VN" sz="1200"/>
          </a:p>
        </p:txBody>
      </p:sp>
      <p:sp>
        <p:nvSpPr>
          <p:cNvPr id="35" name="Shape 35"/>
          <p:cNvSpPr/>
          <p:nvPr/>
        </p:nvSpPr>
        <p:spPr>
          <a:xfrm>
            <a:off x="9572625" y="3800475"/>
            <a:ext cx="1600200" cy="285750"/>
          </a:xfrm>
          <a:prstGeom prst="rect">
            <a:avLst/>
          </a:prstGeom>
          <a:noFill/>
          <a:ln>
            <a:noFill/>
          </a:ln>
        </p:spPr>
        <p:txBody>
          <a:bodyPr wrap="square" anchor="ctr" lIns="19050" rIns="19050" tIns="19050" bIns="19050">
            <a:normAutofit/>
          </a:bodyPr>
          <a:lstStyle/>
          <a:p>
            <a:pPr algn="l"/>
            <a:lnSpc>
              <a:spcPct val="112000"/>
            </a:lnSpc>
            <a:r>
              <a:rPr lang="vi-VN" sz="1200" b="1" dirty="0">
                <a:solidFill>
                  <a:srgbClr val="168878"/>
                </a:solidFill>
                <a:latin typeface="Arial"/>
                <a:ea typeface="Arial"/>
              </a:rPr>
              <a:t xml:space="preserve">PHỤ HUYNH</a:t>
            </a:r>
            <a:endParaRPr lang="vi-VN" sz="1200"/>
          </a:p>
        </p:txBody>
      </p:sp>
      <p:sp>
        <p:nvSpPr>
          <p:cNvPr id="36" name="Shape 36"/>
          <p:cNvSpPr/>
          <p:nvPr/>
        </p:nvSpPr>
        <p:spPr>
          <a:xfrm>
            <a:off x="9191625" y="4162425"/>
            <a:ext cx="1971675" cy="466725"/>
          </a:xfrm>
          <a:prstGeom prst="rect">
            <a:avLst/>
          </a:prstGeom>
          <a:noFill/>
          <a:ln>
            <a:noFill/>
          </a:ln>
        </p:spPr>
        <p:txBody>
          <a:bodyPr wrap="square" anchor="ctr" lIns="28575" rIns="28575" tIns="28575" bIns="28575">
            <a:normAutofit/>
          </a:bodyPr>
          <a:lstStyle/>
          <a:p>
            <a:pPr algn="ctr"/>
            <a:lnSpc>
              <a:spcPct val="112000"/>
            </a:lnSpc>
            <a:r>
              <a:rPr lang="vi-VN" sz="1500" b="1" dirty="0">
                <a:solidFill>
                  <a:srgbClr val="123B38"/>
                </a:solidFill>
                <a:latin typeface="Arial"/>
                <a:ea typeface="Arial"/>
              </a:rPr>
              <a:t xml:space="preserve">GET danh sách; chọn</a:t>
            </a:r>
            <a:endParaRPr lang="vi-VN" sz="1500"/>
          </a:p>
          <a:p>
            <a:pPr algn="ctr"/>
            <a:lnSpc>
              <a:spcPct val="112000"/>
            </a:lnSpc>
            <a:r>
              <a:rPr lang="vi-VN" sz="1500" b="1" dirty="0">
                <a:solidFill>
                  <a:srgbClr val="123B38"/>
                </a:solidFill>
                <a:latin typeface="Arial"/>
                <a:ea typeface="Arial"/>
              </a:rPr>
              <a:t xml:space="preserve">duyệt hoặc từ chối</a:t>
            </a:r>
            <a:endParaRPr lang="vi-VN" sz="1500"/>
          </a:p>
        </p:txBody>
      </p:sp>
      <p:sp>
        <p:nvSpPr>
          <p:cNvPr id="37" name="Shape 37"/>
          <p:cNvSpPr/>
          <p:nvPr/>
        </p:nvSpPr>
        <p:spPr>
          <a:xfrm>
            <a:off x="6267450" y="3676650"/>
            <a:ext cx="2238375" cy="1066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5DE"/>
            </a:solidFill>
          </a:ln>
        </p:spPr>
      </p:sp>
      <p:sp>
        <p:nvSpPr>
          <p:cNvPr id="38" name="Shape 38"/>
          <p:cNvSpPr/>
          <p:nvPr/>
        </p:nvSpPr>
        <p:spPr>
          <a:xfrm>
            <a:off x="6400800" y="3810000"/>
            <a:ext cx="295275" cy="295275"/>
          </a:xfrm>
          <a:prstGeom prst="ellipse">
            <a:avLst/>
          </a:prstGeom>
          <a:solidFill>
            <a:srgbClr val="48B89A"/>
          </a:solidFill>
          <a:ln>
            <a:noFill/>
          </a:ln>
        </p:spPr>
      </p:sp>
      <p:sp>
        <p:nvSpPr>
          <p:cNvPr id="39" name="Shape 39"/>
          <p:cNvSpPr/>
          <p:nvPr/>
        </p:nvSpPr>
        <p:spPr>
          <a:xfrm>
            <a:off x="6429375" y="3838575"/>
            <a:ext cx="238125" cy="2286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>
            <a:normAutofit/>
          </a:bodyPr>
          <a:lstStyle/>
          <a:p>
            <a:pPr algn="ctr"/>
            <a:lnSpc>
              <a:spcPct val="112000"/>
            </a:lnSpc>
            <a:r>
              <a:rPr lang="vi-VN" sz="1200" b="1" dirty="0">
                <a:solidFill>
                  <a:srgbClr val="FFFFFF"/>
                </a:solidFill>
                <a:latin typeface="Arial"/>
                <a:ea typeface="Arial"/>
              </a:rPr>
              <a:t xml:space="preserve">6</a:t>
            </a:r>
            <a:endParaRPr lang="vi-VN" sz="1200"/>
          </a:p>
        </p:txBody>
      </p:sp>
      <p:sp>
        <p:nvSpPr>
          <p:cNvPr id="40" name="Shape 40"/>
          <p:cNvSpPr/>
          <p:nvPr/>
        </p:nvSpPr>
        <p:spPr>
          <a:xfrm>
            <a:off x="6781800" y="3800475"/>
            <a:ext cx="1600200" cy="285750"/>
          </a:xfrm>
          <a:prstGeom prst="rect">
            <a:avLst/>
          </a:prstGeom>
          <a:noFill/>
          <a:ln>
            <a:noFill/>
          </a:ln>
        </p:spPr>
        <p:txBody>
          <a:bodyPr wrap="square" anchor="ctr" lIns="19050" rIns="19050" tIns="19050" bIns="19050">
            <a:normAutofit/>
          </a:bodyPr>
          <a:lstStyle/>
          <a:p>
            <a:pPr algn="l"/>
            <a:lnSpc>
              <a:spcPct val="112000"/>
            </a:lnSpc>
            <a:r>
              <a:rPr lang="vi-VN" sz="1200" b="1" dirty="0">
                <a:solidFill>
                  <a:srgbClr val="48B89A"/>
                </a:solidFill>
                <a:latin typeface="Arial"/>
                <a:ea typeface="Arial"/>
              </a:rPr>
              <a:t xml:space="preserve">PATCH REVIEW</a:t>
            </a:r>
            <a:endParaRPr lang="vi-VN" sz="1200"/>
          </a:p>
        </p:txBody>
      </p:sp>
      <p:sp>
        <p:nvSpPr>
          <p:cNvPr id="41" name="Shape 41"/>
          <p:cNvSpPr/>
          <p:nvPr/>
        </p:nvSpPr>
        <p:spPr>
          <a:xfrm>
            <a:off x="6400800" y="4162425"/>
            <a:ext cx="1971675" cy="466725"/>
          </a:xfrm>
          <a:prstGeom prst="rect">
            <a:avLst/>
          </a:prstGeom>
          <a:noFill/>
          <a:ln>
            <a:noFill/>
          </a:ln>
        </p:spPr>
        <p:txBody>
          <a:bodyPr wrap="square" anchor="ctr" lIns="28575" rIns="28575" tIns="28575" bIns="28575">
            <a:normAutofit/>
          </a:bodyPr>
          <a:lstStyle/>
          <a:p>
            <a:pPr algn="ctr"/>
            <a:lnSpc>
              <a:spcPct val="112000"/>
            </a:lnSpc>
            <a:r>
              <a:rPr lang="vi-VN" sz="1500" b="1" dirty="0">
                <a:solidFill>
                  <a:srgbClr val="123B38"/>
                </a:solidFill>
                <a:latin typeface="Arial"/>
                <a:ea typeface="Arial"/>
              </a:rPr>
              <a:t xml:space="preserve">/api/child-requests/{id}</a:t>
            </a:r>
            <a:endParaRPr lang="vi-VN" sz="1500"/>
          </a:p>
          <a:p>
            <a:pPr algn="ctr"/>
            <a:lnSpc>
              <a:spcPct val="112000"/>
            </a:lnSpc>
            <a:r>
              <a:rPr lang="vi-VN" sz="1500" b="1" dirty="0">
                <a:solidFill>
                  <a:srgbClr val="123B38"/>
                </a:solidFill>
                <a:latin typeface="Arial"/>
                <a:ea typeface="Arial"/>
              </a:rPr>
              <a:t xml:space="preserve">Admin key + quyết định</a:t>
            </a:r>
            <a:endParaRPr lang="vi-VN" sz="1500"/>
          </a:p>
        </p:txBody>
      </p:sp>
      <p:sp>
        <p:nvSpPr>
          <p:cNvPr id="42" name="Shape 42"/>
          <p:cNvSpPr/>
          <p:nvPr/>
        </p:nvSpPr>
        <p:spPr>
          <a:xfrm>
            <a:off x="3476625" y="3676650"/>
            <a:ext cx="2238375" cy="1066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5DE"/>
            </a:solidFill>
          </a:ln>
        </p:spPr>
      </p:sp>
      <p:sp>
        <p:nvSpPr>
          <p:cNvPr id="43" name="Shape 43"/>
          <p:cNvSpPr/>
          <p:nvPr/>
        </p:nvSpPr>
        <p:spPr>
          <a:xfrm>
            <a:off x="3609975" y="3810000"/>
            <a:ext cx="295275" cy="295275"/>
          </a:xfrm>
          <a:prstGeom prst="ellipse">
            <a:avLst/>
          </a:prstGeom>
          <a:solidFill>
            <a:srgbClr val="E9AC51"/>
          </a:solidFill>
          <a:ln>
            <a:noFill/>
          </a:ln>
        </p:spPr>
      </p:sp>
      <p:sp>
        <p:nvSpPr>
          <p:cNvPr id="44" name="Shape 44"/>
          <p:cNvSpPr/>
          <p:nvPr/>
        </p:nvSpPr>
        <p:spPr>
          <a:xfrm>
            <a:off x="3638550" y="3838575"/>
            <a:ext cx="238125" cy="2286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>
            <a:normAutofit/>
          </a:bodyPr>
          <a:lstStyle/>
          <a:p>
            <a:pPr algn="ctr"/>
            <a:lnSpc>
              <a:spcPct val="112000"/>
            </a:lnSpc>
            <a:r>
              <a:rPr lang="vi-VN" sz="1200" b="1" dirty="0">
                <a:solidFill>
                  <a:srgbClr val="FFFFFF"/>
                </a:solidFill>
                <a:latin typeface="Arial"/>
                <a:ea typeface="Arial"/>
              </a:rPr>
              <a:t xml:space="preserve">7</a:t>
            </a:r>
            <a:endParaRPr lang="vi-VN" sz="1200"/>
          </a:p>
        </p:txBody>
      </p:sp>
      <p:sp>
        <p:nvSpPr>
          <p:cNvPr id="45" name="Shape 45"/>
          <p:cNvSpPr/>
          <p:nvPr/>
        </p:nvSpPr>
        <p:spPr>
          <a:xfrm>
            <a:off x="3990975" y="3800475"/>
            <a:ext cx="1600200" cy="285750"/>
          </a:xfrm>
          <a:prstGeom prst="rect">
            <a:avLst/>
          </a:prstGeom>
          <a:noFill/>
          <a:ln>
            <a:noFill/>
          </a:ln>
        </p:spPr>
        <p:txBody>
          <a:bodyPr wrap="square" anchor="ctr" lIns="19050" rIns="19050" tIns="19050" bIns="19050">
            <a:normAutofit/>
          </a:bodyPr>
          <a:lstStyle/>
          <a:p>
            <a:pPr algn="l"/>
            <a:lnSpc>
              <a:spcPct val="112000"/>
            </a:lnSpc>
            <a:r>
              <a:rPr lang="vi-VN" sz="1200" b="1" dirty="0">
                <a:solidFill>
                  <a:srgbClr val="E9AC51"/>
                </a:solidFill>
                <a:latin typeface="Arial"/>
                <a:ea typeface="Arial"/>
              </a:rPr>
              <a:t xml:space="preserve">SQLITE · REVIEWED</a:t>
            </a:r>
            <a:endParaRPr lang="vi-VN" sz="1200"/>
          </a:p>
        </p:txBody>
      </p:sp>
      <p:sp>
        <p:nvSpPr>
          <p:cNvPr id="46" name="Shape 46"/>
          <p:cNvSpPr/>
          <p:nvPr/>
        </p:nvSpPr>
        <p:spPr>
          <a:xfrm>
            <a:off x="3609975" y="4162425"/>
            <a:ext cx="1971675" cy="466725"/>
          </a:xfrm>
          <a:prstGeom prst="rect">
            <a:avLst/>
          </a:prstGeom>
          <a:noFill/>
          <a:ln>
            <a:noFill/>
          </a:ln>
        </p:spPr>
        <p:txBody>
          <a:bodyPr wrap="square" anchor="ctr" lIns="28575" rIns="28575" tIns="28575" bIns="28575">
            <a:normAutofit/>
          </a:bodyPr>
          <a:lstStyle/>
          <a:p>
            <a:pPr algn="ctr"/>
            <a:lnSpc>
              <a:spcPct val="112000"/>
            </a:lnSpc>
            <a:r>
              <a:rPr lang="vi-VN" sz="1500" b="1" dirty="0">
                <a:solidFill>
                  <a:srgbClr val="123B38"/>
                </a:solidFill>
                <a:latin typeface="Arial"/>
                <a:ea typeface="Arial"/>
              </a:rPr>
              <a:t xml:space="preserve">Lưu response, phút</a:t>
            </a:r>
            <a:endParaRPr lang="vi-VN" sz="1500"/>
          </a:p>
          <a:p>
            <a:pPr algn="ctr"/>
            <a:lnSpc>
              <a:spcPct val="112000"/>
            </a:lnSpc>
            <a:r>
              <a:rPr lang="vi-VN" sz="1500" b="1" dirty="0">
                <a:solidFill>
                  <a:srgbClr val="123B38"/>
                </a:solidFill>
                <a:latin typeface="Arial"/>
                <a:ea typeface="Arial"/>
              </a:rPr>
              <a:t xml:space="preserve">được duyệt, reviewed_at</a:t>
            </a:r>
            <a:endParaRPr lang="vi-VN" sz="1500"/>
          </a:p>
        </p:txBody>
      </p:sp>
      <p:sp>
        <p:nvSpPr>
          <p:cNvPr id="47" name="Shape 47"/>
          <p:cNvSpPr/>
          <p:nvPr/>
        </p:nvSpPr>
        <p:spPr>
          <a:xfrm>
            <a:off x="685800" y="3676650"/>
            <a:ext cx="2238375" cy="1066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5DE"/>
            </a:solidFill>
          </a:ln>
        </p:spPr>
      </p:sp>
      <p:sp>
        <p:nvSpPr>
          <p:cNvPr id="48" name="Shape 48"/>
          <p:cNvSpPr/>
          <p:nvPr/>
        </p:nvSpPr>
        <p:spPr>
          <a:xfrm>
            <a:off x="819150" y="3810000"/>
            <a:ext cx="295275" cy="295275"/>
          </a:xfrm>
          <a:prstGeom prst="ellipse">
            <a:avLst/>
          </a:prstGeom>
          <a:solidFill>
            <a:srgbClr val="168878"/>
          </a:solidFill>
          <a:ln>
            <a:noFill/>
          </a:ln>
        </p:spPr>
      </p:sp>
      <p:sp>
        <p:nvSpPr>
          <p:cNvPr id="49" name="Shape 49"/>
          <p:cNvSpPr/>
          <p:nvPr/>
        </p:nvSpPr>
        <p:spPr>
          <a:xfrm>
            <a:off x="847725" y="3838575"/>
            <a:ext cx="238125" cy="2286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>
            <a:normAutofit/>
          </a:bodyPr>
          <a:lstStyle/>
          <a:p>
            <a:pPr algn="ctr"/>
            <a:lnSpc>
              <a:spcPct val="112000"/>
            </a:lnSpc>
            <a:r>
              <a:rPr lang="vi-VN" sz="1200" b="1" dirty="0">
                <a:solidFill>
                  <a:srgbClr val="FFFFFF"/>
                </a:solidFill>
                <a:latin typeface="Arial"/>
                <a:ea typeface="Arial"/>
              </a:rPr>
              <a:t xml:space="preserve">8</a:t>
            </a:r>
            <a:endParaRPr lang="vi-VN" sz="1200"/>
          </a:p>
        </p:txBody>
      </p:sp>
      <p:sp>
        <p:nvSpPr>
          <p:cNvPr id="50" name="Shape 50"/>
          <p:cNvSpPr/>
          <p:nvPr/>
        </p:nvSpPr>
        <p:spPr>
          <a:xfrm>
            <a:off x="1200150" y="3800475"/>
            <a:ext cx="1600200" cy="285750"/>
          </a:xfrm>
          <a:prstGeom prst="rect">
            <a:avLst/>
          </a:prstGeom>
          <a:noFill/>
          <a:ln>
            <a:noFill/>
          </a:ln>
        </p:spPr>
        <p:txBody>
          <a:bodyPr wrap="square" anchor="ctr" lIns="19050" rIns="19050" tIns="19050" bIns="19050">
            <a:normAutofit/>
          </a:bodyPr>
          <a:lstStyle/>
          <a:p>
            <a:pPr algn="l"/>
            <a:lnSpc>
              <a:spcPct val="112000"/>
            </a:lnSpc>
            <a:r>
              <a:rPr lang="vi-VN" sz="1200" b="1" dirty="0">
                <a:solidFill>
                  <a:srgbClr val="168878"/>
                </a:solidFill>
                <a:latin typeface="Arial"/>
                <a:ea typeface="Arial"/>
              </a:rPr>
              <a:t xml:space="preserve">TRANG TRẺ</a:t>
            </a:r>
            <a:endParaRPr lang="vi-VN" sz="1200"/>
          </a:p>
        </p:txBody>
      </p:sp>
      <p:sp>
        <p:nvSpPr>
          <p:cNvPr id="51" name="Shape 51"/>
          <p:cNvSpPr/>
          <p:nvPr/>
        </p:nvSpPr>
        <p:spPr>
          <a:xfrm>
            <a:off x="819150" y="4162425"/>
            <a:ext cx="1971675" cy="466725"/>
          </a:xfrm>
          <a:prstGeom prst="rect">
            <a:avLst/>
          </a:prstGeom>
          <a:noFill/>
          <a:ln>
            <a:noFill/>
          </a:ln>
        </p:spPr>
        <p:txBody>
          <a:bodyPr wrap="square" anchor="ctr" lIns="28575" rIns="28575" tIns="28575" bIns="28575">
            <a:normAutofit/>
          </a:bodyPr>
          <a:lstStyle/>
          <a:p>
            <a:pPr algn="ctr"/>
            <a:lnSpc>
              <a:spcPct val="112000"/>
            </a:lnSpc>
            <a:r>
              <a:rPr lang="vi-VN" sz="1500" b="1" dirty="0">
                <a:solidFill>
                  <a:srgbClr val="123B38"/>
                </a:solidFill>
                <a:latin typeface="Arial"/>
                <a:ea typeface="Arial"/>
              </a:rPr>
              <a:t xml:space="preserve">Tải lại danh sách;</a:t>
            </a:r>
            <a:endParaRPr lang="vi-VN" sz="1500"/>
          </a:p>
          <a:p>
            <a:pPr algn="ctr"/>
            <a:lnSpc>
              <a:spcPct val="112000"/>
            </a:lnSpc>
            <a:r>
              <a:rPr lang="vi-VN" sz="1500" b="1" dirty="0">
                <a:solidFill>
                  <a:srgbClr val="123B38"/>
                </a:solidFill>
                <a:latin typeface="Arial"/>
                <a:ea typeface="Arial"/>
              </a:rPr>
              <a:t xml:space="preserve">hiển thị phản hồi</a:t>
            </a:r>
            <a:endParaRPr lang="vi-VN" sz="1500"/>
          </a:p>
        </p:txBody>
      </p:sp>
      <p:cxnSp>
        <p:nvCxnSpPr>
          <p:cNvPr id="52" name="Arrow 52"/>
          <p:cNvCxnSpPr/>
          <p:nvPr/>
        </p:nvCxnSpPr>
        <p:spPr>
          <a:xfrm>
            <a:off x="10172700" y="2876550"/>
            <a:ext cx="0" cy="685800"/>
          </a:xfrm>
          <a:prstGeom prst="line">
            <a:avLst/>
          </a:prstGeom>
          <a:ln w="25400">
            <a:solidFill>
              <a:srgbClr val="91B8A9"/>
            </a:solidFill>
            <a:tailEnd type="none"/>
            <a:headEnd type="triangle"/>
          </a:ln>
        </p:spPr>
      </p:cxnSp>
      <p:cxnSp>
        <p:nvCxnSpPr>
          <p:cNvPr id="53" name="Arrow 53"/>
          <p:cNvCxnSpPr/>
          <p:nvPr/>
        </p:nvCxnSpPr>
        <p:spPr>
          <a:xfrm flipH="1">
            <a:off x="8505825" y="4210050"/>
            <a:ext cx="552450" cy="0"/>
          </a:xfrm>
          <a:prstGeom prst="line">
            <a:avLst/>
          </a:prstGeom>
          <a:ln w="25400">
            <a:solidFill>
              <a:srgbClr val="91B8A9"/>
            </a:solidFill>
            <a:tailEnd type="none"/>
            <a:headEnd type="triangle"/>
          </a:ln>
        </p:spPr>
      </p:cxnSp>
      <p:cxnSp>
        <p:nvCxnSpPr>
          <p:cNvPr id="54" name="Arrow 54"/>
          <p:cNvCxnSpPr/>
          <p:nvPr/>
        </p:nvCxnSpPr>
        <p:spPr>
          <a:xfrm flipH="1">
            <a:off x="5715000" y="4210050"/>
            <a:ext cx="552450" cy="0"/>
          </a:xfrm>
          <a:prstGeom prst="line">
            <a:avLst/>
          </a:prstGeom>
          <a:ln w="25400">
            <a:solidFill>
              <a:srgbClr val="91B8A9"/>
            </a:solidFill>
            <a:tailEnd type="none"/>
            <a:headEnd type="triangle"/>
          </a:ln>
        </p:spPr>
      </p:cxnSp>
      <p:cxnSp>
        <p:nvCxnSpPr>
          <p:cNvPr id="55" name="Arrow 55"/>
          <p:cNvCxnSpPr/>
          <p:nvPr/>
        </p:nvCxnSpPr>
        <p:spPr>
          <a:xfrm flipH="1">
            <a:off x="2924175" y="4210050"/>
            <a:ext cx="552450" cy="0"/>
          </a:xfrm>
          <a:prstGeom prst="line">
            <a:avLst/>
          </a:prstGeom>
          <a:ln w="25400">
            <a:solidFill>
              <a:srgbClr val="91B8A9"/>
            </a:solidFill>
            <a:tailEnd type="none"/>
            <a:headEnd type="triangle"/>
          </a:ln>
        </p:spPr>
      </p:cxnSp>
      <p:sp>
        <p:nvSpPr>
          <p:cNvPr id="56" name="Shape 56"/>
          <p:cNvSpPr/>
          <p:nvPr/>
        </p:nvSpPr>
        <p:spPr>
          <a:xfrm>
            <a:off x="685800" y="5095875"/>
            <a:ext cx="10725150" cy="742950"/>
          </a:xfrm>
          <a:prstGeom prst="roundRect">
            <a:avLst/>
          </a:prstGeom>
          <a:solidFill>
            <a:srgbClr val="FFF4E1"/>
          </a:solidFill>
          <a:ln>
            <a:noFill/>
          </a:ln>
        </p:spPr>
      </p:sp>
      <p:sp>
        <p:nvSpPr>
          <p:cNvPr id="57" name="Shape 57"/>
          <p:cNvSpPr/>
          <p:nvPr/>
        </p:nvSpPr>
        <p:spPr>
          <a:xfrm>
            <a:off x="895350" y="5200650"/>
            <a:ext cx="10239375" cy="1905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>
            <a:normAutofit/>
          </a:bodyPr>
          <a:lstStyle/>
          <a:p>
            <a:pPr algn="l"/>
            <a:lnSpc>
              <a:spcPct val="112000"/>
            </a:lnSpc>
            <a:r>
              <a:rPr lang="vi-VN" sz="1100" b="1" dirty="0">
                <a:solidFill>
                  <a:srgbClr val="A36B17"/>
                </a:solidFill>
                <a:latin typeface="Arial"/>
                <a:ea typeface="Arial"/>
              </a:rPr>
              <a:t xml:space="preserve">GIỚI HẠN CỦA PROTOTYPE</a:t>
            </a:r>
            <a:endParaRPr lang="vi-VN" sz="1100"/>
          </a:p>
        </p:txBody>
      </p:sp>
      <p:sp>
        <p:nvSpPr>
          <p:cNvPr id="58" name="Shape 58"/>
          <p:cNvSpPr/>
          <p:nvPr/>
        </p:nvSpPr>
        <p:spPr>
          <a:xfrm>
            <a:off x="895350" y="5429250"/>
            <a:ext cx="10239375" cy="276225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>
            <a:normAutofit/>
          </a:bodyPr>
          <a:lstStyle/>
          <a:p>
            <a:pPr algn="l"/>
            <a:lnSpc>
              <a:spcPct val="112000"/>
            </a:lnSpc>
            <a:r>
              <a:rPr lang="vi-VN" sz="1500" b="1" dirty="0">
                <a:solidFill>
                  <a:srgbClr val="123B38"/>
                </a:solidFill>
                <a:latin typeface="Arial"/>
                <a:ea typeface="Arial"/>
              </a:rPr>
              <a:t xml:space="preserve">Phút được duyệt chỉ được lưu; quota agent chưa thay đổi và máy chưa tự mở khóa.</a:t>
            </a:r>
            <a:endParaRPr lang="vi-VN" sz="1500"/>
          </a:p>
        </p:txBody>
      </p:sp>
      <p:sp>
        <p:nvSpPr>
          <p:cNvPr id="59" name="Shape 59"/>
          <p:cNvSpPr/>
          <p:nvPr/>
        </p:nvSpPr>
        <p:spPr>
          <a:xfrm>
            <a:off x="609600" y="6438900"/>
            <a:ext cx="8096250" cy="1905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>
            <a:normAutofit/>
          </a:bodyPr>
          <a:lstStyle/>
          <a:p>
            <a:pPr algn="l"/>
            <a:lnSpc>
              <a:spcPct val="112000"/>
            </a:lnSpc>
            <a:r>
              <a:rPr lang="vi-VN" sz="1000" b="0" dirty="0">
                <a:solidFill>
                  <a:srgbClr val="617A75"/>
                </a:solidFill>
                <a:latin typeface="Arial"/>
                <a:ea typeface="Arial"/>
              </a:rPr>
              <a:t xml:space="preserve">OGK  /  Prototype học tập  /  Tuần 1–3</a:t>
            </a:r>
            <a:endParaRPr lang="vi-VN" sz="1000"/>
          </a:p>
        </p:txBody>
      </p:sp>
      <p:sp>
        <p:nvSpPr>
          <p:cNvPr id="60" name="Shape 60"/>
          <p:cNvSpPr/>
          <p:nvPr/>
        </p:nvSpPr>
        <p:spPr>
          <a:xfrm>
            <a:off x="11049000" y="6419850"/>
            <a:ext cx="476250" cy="20955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>
            <a:normAutofit/>
          </a:bodyPr>
          <a:lstStyle/>
          <a:p>
            <a:pPr algn="r"/>
            <a:lnSpc>
              <a:spcPct val="112000"/>
            </a:lnSpc>
            <a:r>
              <a:rPr lang="vi-VN" sz="1100" b="1" dirty="0">
                <a:solidFill>
                  <a:srgbClr val="168878"/>
                </a:solidFill>
                <a:latin typeface="Arial"/>
                <a:ea typeface="Arial"/>
              </a:rPr>
              <a:t xml:space="preserve">06</a:t>
            </a:r>
            <a:endParaRPr lang="vi-VN" sz="11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7F2"/>
          </a:solidFill>
          <a:ln>
            <a:noFill/>
          </a:ln>
        </p:spPr>
      </p:sp>
      <p:sp>
        <p:nvSpPr>
          <p:cNvPr id="3" name="Shape 3"/>
          <p:cNvSpPr/>
          <p:nvPr/>
        </p:nvSpPr>
        <p:spPr>
          <a:xfrm>
            <a:off x="0" y="0"/>
            <a:ext cx="133350" cy="6858000"/>
          </a:xfrm>
          <a:prstGeom prst="rect">
            <a:avLst/>
          </a:prstGeom>
          <a:solidFill>
            <a:srgbClr val="168878"/>
          </a:solidFill>
          <a:ln>
            <a:noFill/>
          </a:ln>
        </p:spPr>
      </p:sp>
      <p:sp>
        <p:nvSpPr>
          <p:cNvPr id="4" name="Shape 4"/>
          <p:cNvSpPr/>
          <p:nvPr/>
        </p:nvSpPr>
        <p:spPr>
          <a:xfrm>
            <a:off x="609600" y="323850"/>
            <a:ext cx="9525000" cy="238125"/>
          </a:xfrm>
          <a:prstGeom prst="rect">
            <a:avLst/>
          </a:prstGeom>
          <a:noFill/>
          <a:ln>
            <a:noFill/>
          </a:ln>
        </p:spPr>
        <p:txBody>
          <a:bodyPr wrap="square" anchor="ctr" lIns="38100" rIns="38100" tIns="38100" bIns="38100">
            <a:normAutofit/>
          </a:bodyPr>
          <a:lstStyle/>
          <a:p>
            <a:pPr algn="l"/>
            <a:lnSpc>
              <a:spcPct val="112000"/>
            </a:lnSpc>
            <a:r>
              <a:rPr lang="vi-VN" sz="1200" b="1" i="0" dirty="0">
                <a:solidFill>
                  <a:srgbClr val="168878"/>
                </a:solidFill>
                <a:latin typeface="Arial"/>
                <a:ea typeface="Arial"/>
              </a:rPr>
              <a:t xml:space="preserve">06  /  THIẾT KẾ CÓ TRÁCH NHIỆM</a:t>
            </a:r>
            <a:endParaRPr lang="vi-VN" sz="1200"/>
          </a:p>
        </p:txBody>
      </p:sp>
      <p:sp>
        <p:nvSpPr>
          <p:cNvPr id="5" name="Shape 5"/>
          <p:cNvSpPr/>
          <p:nvPr/>
        </p:nvSpPr>
        <p:spPr>
          <a:xfrm>
            <a:off x="609600" y="600075"/>
            <a:ext cx="10668000" cy="514350"/>
          </a:xfrm>
          <a:prstGeom prst="rect">
            <a:avLst/>
          </a:prstGeom>
          <a:noFill/>
          <a:ln>
            <a:noFill/>
          </a:ln>
        </p:spPr>
        <p:txBody>
          <a:bodyPr wrap="square" anchor="ctr" lIns="38100" rIns="38100" tIns="38100" bIns="38100">
            <a:normAutofit/>
          </a:bodyPr>
          <a:lstStyle/>
          <a:p>
            <a:pPr algn="l"/>
            <a:lnSpc>
              <a:spcPct val="112000"/>
            </a:lnSpc>
            <a:r>
              <a:rPr lang="vi-VN" sz="3100" b="1" i="0" dirty="0">
                <a:solidFill>
                  <a:srgbClr val="123B38"/>
                </a:solidFill>
                <a:latin typeface="Arial"/>
                <a:ea typeface="Arial"/>
              </a:rPr>
              <a:t xml:space="preserve">Quyền riêng tư và các chốt an toàn</a:t>
            </a:r>
            <a:endParaRPr lang="vi-VN" sz="3100"/>
          </a:p>
        </p:txBody>
      </p:sp>
      <p:sp>
        <p:nvSpPr>
          <p:cNvPr id="6" name="Shape 6"/>
          <p:cNvSpPr/>
          <p:nvPr/>
        </p:nvSpPr>
        <p:spPr>
          <a:xfrm>
            <a:off x="609600" y="1219200"/>
            <a:ext cx="10953750" cy="9525"/>
          </a:xfrm>
          <a:prstGeom prst="rect">
            <a:avLst/>
          </a:prstGeom>
          <a:solidFill>
            <a:srgbClr val="D9E7E0"/>
          </a:solidFill>
          <a:ln>
            <a:noFill/>
          </a:ln>
        </p:spPr>
      </p:sp>
      <p:sp>
        <p:nvSpPr>
          <p:cNvPr id="7" name="Shape 7"/>
          <p:cNvSpPr/>
          <p:nvPr/>
        </p:nvSpPr>
        <p:spPr>
          <a:xfrm>
            <a:off x="609600" y="6438900"/>
            <a:ext cx="8096250" cy="1905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8100" rIns="38100" tIns="38100" bIns="38100">
            <a:normAutofit/>
          </a:bodyPr>
          <a:lstStyle/>
          <a:p>
            <a:pPr algn="l"/>
            <a:lnSpc>
              <a:spcPct val="112000"/>
            </a:lnSpc>
            <a:r>
              <a:rPr lang="vi-VN" sz="1000" b="0" i="0" dirty="0">
                <a:solidFill>
                  <a:srgbClr val="617A75"/>
                </a:solidFill>
                <a:latin typeface="Arial"/>
                <a:ea typeface="Arial"/>
              </a:rPr>
              <a:t xml:space="preserve">OGK  /  Prototype học tập  /  Tuần 1–3</a:t>
            </a:r>
            <a:endParaRPr lang="vi-VN" sz="1000"/>
          </a:p>
        </p:txBody>
      </p:sp>
      <p:sp>
        <p:nvSpPr>
          <p:cNvPr id="8" name="Shape 8"/>
          <p:cNvSpPr/>
          <p:nvPr/>
        </p:nvSpPr>
        <p:spPr>
          <a:xfrm>
            <a:off x="11049000" y="6419850"/>
            <a:ext cx="476250" cy="209550"/>
          </a:xfrm>
          <a:prstGeom prst="rect">
            <a:avLst/>
          </a:prstGeom>
          <a:noFill/>
          <a:ln>
            <a:noFill/>
          </a:ln>
        </p:spPr>
        <p:txBody>
          <a:bodyPr wrap="square" anchor="ctr" lIns="38100" rIns="38100" tIns="38100" bIns="38100">
            <a:normAutofit/>
          </a:bodyPr>
          <a:lstStyle/>
          <a:p>
            <a:pPr algn="r"/>
            <a:lnSpc>
              <a:spcPct val="112000"/>
            </a:lnSpc>
            <a:r>
              <a:rPr lang="vi-VN" sz="1100" b="1" i="0" dirty="0">
                <a:solidFill>
                  <a:srgbClr val="168878"/>
                </a:solidFill>
                <a:latin typeface="Arial"/>
                <a:ea typeface="Arial"/>
              </a:rPr>
              <a:t xml:space="preserve">07</a:t>
            </a:r>
            <a:endParaRPr lang="vi-VN" sz="1100"/>
          </a:p>
        </p:txBody>
      </p:sp>
      <p:sp>
        <p:nvSpPr>
          <p:cNvPr id="9" name="Shape 9"/>
          <p:cNvSpPr/>
          <p:nvPr/>
        </p:nvSpPr>
        <p:spPr>
          <a:xfrm>
            <a:off x="685800" y="1524000"/>
            <a:ext cx="4572000" cy="381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8100" rIns="38100" tIns="38100" bIns="38100">
            <a:normAutofit/>
          </a:bodyPr>
          <a:lstStyle/>
          <a:p>
            <a:pPr algn="l"/>
            <a:lnSpc>
              <a:spcPct val="112000"/>
            </a:lnSpc>
            <a:r>
              <a:rPr lang="vi-VN" sz="2200" b="1" i="0" dirty="0">
                <a:solidFill>
                  <a:srgbClr val="123B38"/>
                </a:solidFill>
                <a:latin typeface="Arial"/>
                <a:ea typeface="Arial"/>
              </a:rPr>
              <a:t xml:space="preserve">Chỉ ghi metadata cần cho demo</a:t>
            </a:r>
            <a:endParaRPr lang="vi-VN" sz="2200"/>
          </a:p>
        </p:txBody>
      </p:sp>
      <p:sp>
        <p:nvSpPr>
          <p:cNvPr id="10" name="Shape 10"/>
          <p:cNvSpPr/>
          <p:nvPr/>
        </p:nvSpPr>
        <p:spPr>
          <a:xfrm>
            <a:off x="723900" y="2181225"/>
            <a:ext cx="95250" cy="95250"/>
          </a:xfrm>
          <a:prstGeom prst="ellipse">
            <a:avLst/>
          </a:prstGeom>
          <a:solidFill>
            <a:srgbClr val="48B89A"/>
          </a:solidFill>
          <a:ln>
            <a:noFill/>
          </a:ln>
        </p:spPr>
      </p:sp>
      <p:sp>
        <p:nvSpPr>
          <p:cNvPr id="11" name="Shape 11"/>
          <p:cNvSpPr/>
          <p:nvPr/>
        </p:nvSpPr>
        <p:spPr>
          <a:xfrm>
            <a:off x="962025" y="2095500"/>
            <a:ext cx="1447800" cy="247650"/>
          </a:xfrm>
          <a:prstGeom prst="rect">
            <a:avLst/>
          </a:prstGeom>
          <a:noFill/>
          <a:ln>
            <a:noFill/>
          </a:ln>
        </p:spPr>
        <p:txBody>
          <a:bodyPr wrap="square" anchor="ctr" lIns="38100" rIns="38100" tIns="38100" bIns="38100">
            <a:normAutofit/>
          </a:bodyPr>
          <a:lstStyle/>
          <a:p>
            <a:pPr algn="l"/>
            <a:lnSpc>
              <a:spcPct val="112000"/>
            </a:lnSpc>
            <a:r>
              <a:rPr lang="vi-VN" sz="1500" b="1" i="0" dirty="0">
                <a:solidFill>
                  <a:srgbClr val="168878"/>
                </a:solidFill>
                <a:latin typeface="Arial"/>
                <a:ea typeface="Arial"/>
              </a:rPr>
              <a:t xml:space="preserve">Ứng dụng</a:t>
            </a:r>
            <a:endParaRPr lang="vi-VN" sz="1500"/>
          </a:p>
        </p:txBody>
      </p:sp>
      <p:sp>
        <p:nvSpPr>
          <p:cNvPr id="12" name="Shape 12"/>
          <p:cNvSpPr/>
          <p:nvPr/>
        </p:nvSpPr>
        <p:spPr>
          <a:xfrm>
            <a:off x="962025" y="2371725"/>
            <a:ext cx="3924300" cy="371475"/>
          </a:xfrm>
          <a:prstGeom prst="rect">
            <a:avLst/>
          </a:prstGeom>
          <a:noFill/>
          <a:ln>
            <a:noFill/>
          </a:ln>
        </p:spPr>
        <p:txBody>
          <a:bodyPr wrap="square" anchor="ctr" lIns="38100" rIns="38100" tIns="38100" bIns="38100">
            <a:normAutofit/>
          </a:bodyPr>
          <a:lstStyle/>
          <a:p>
            <a:pPr algn="l"/>
            <a:lnSpc>
              <a:spcPct val="112000"/>
            </a:lnSpc>
            <a:r>
              <a:rPr lang="vi-VN" sz="1500" b="0" i="0" dirty="0">
                <a:solidFill>
                  <a:srgbClr val="203E3B"/>
                </a:solidFill>
                <a:latin typeface="Arial"/>
                <a:ea typeface="Arial"/>
              </a:rPr>
              <a:t xml:space="preserve">Tên executable + thời lượng</a:t>
            </a:r>
            <a:endParaRPr lang="vi-VN" sz="1500"/>
          </a:p>
        </p:txBody>
      </p:sp>
      <p:sp>
        <p:nvSpPr>
          <p:cNvPr id="13" name="Shape 13"/>
          <p:cNvSpPr/>
          <p:nvPr/>
        </p:nvSpPr>
        <p:spPr>
          <a:xfrm>
            <a:off x="723900" y="3000375"/>
            <a:ext cx="95250" cy="95250"/>
          </a:xfrm>
          <a:prstGeom prst="ellipse">
            <a:avLst/>
          </a:prstGeom>
          <a:solidFill>
            <a:srgbClr val="48B89A"/>
          </a:solidFill>
          <a:ln>
            <a:noFill/>
          </a:ln>
        </p:spPr>
      </p:sp>
      <p:sp>
        <p:nvSpPr>
          <p:cNvPr id="14" name="Shape 14"/>
          <p:cNvSpPr/>
          <p:nvPr/>
        </p:nvSpPr>
        <p:spPr>
          <a:xfrm>
            <a:off x="962025" y="2914650"/>
            <a:ext cx="1447800" cy="247650"/>
          </a:xfrm>
          <a:prstGeom prst="rect">
            <a:avLst/>
          </a:prstGeom>
          <a:noFill/>
          <a:ln>
            <a:noFill/>
          </a:ln>
        </p:spPr>
        <p:txBody>
          <a:bodyPr wrap="square" anchor="ctr" lIns="38100" rIns="38100" tIns="38100" bIns="38100">
            <a:normAutofit/>
          </a:bodyPr>
          <a:lstStyle/>
          <a:p>
            <a:pPr algn="l"/>
            <a:lnSpc>
              <a:spcPct val="112000"/>
            </a:lnSpc>
            <a:r>
              <a:rPr lang="vi-VN" sz="1500" b="1" i="0" dirty="0">
                <a:solidFill>
                  <a:srgbClr val="168878"/>
                </a:solidFill>
                <a:latin typeface="Arial"/>
                <a:ea typeface="Arial"/>
              </a:rPr>
              <a:t xml:space="preserve">Web</a:t>
            </a:r>
            <a:endParaRPr lang="vi-VN" sz="1500"/>
          </a:p>
        </p:txBody>
      </p:sp>
      <p:sp>
        <p:nvSpPr>
          <p:cNvPr id="15" name="Shape 15"/>
          <p:cNvSpPr/>
          <p:nvPr/>
        </p:nvSpPr>
        <p:spPr>
          <a:xfrm>
            <a:off x="962025" y="3190875"/>
            <a:ext cx="3924300" cy="371475"/>
          </a:xfrm>
          <a:prstGeom prst="rect">
            <a:avLst/>
          </a:prstGeom>
          <a:noFill/>
          <a:ln>
            <a:noFill/>
          </a:ln>
        </p:spPr>
        <p:txBody>
          <a:bodyPr wrap="square" anchor="ctr" lIns="38100" rIns="38100" tIns="38100" bIns="38100">
            <a:normAutofit/>
          </a:bodyPr>
          <a:lstStyle/>
          <a:p>
            <a:pPr algn="l"/>
            <a:lnSpc>
              <a:spcPct val="112000"/>
            </a:lnSpc>
            <a:r>
              <a:rPr lang="vi-VN" sz="1500" b="0" i="0" dirty="0">
                <a:solidFill>
                  <a:srgbClr val="203E3B"/>
                </a:solidFill>
                <a:latin typeface="Arial"/>
                <a:ea typeface="Arial"/>
              </a:rPr>
              <a:t xml:space="preserve">Domain; không lưu URL path</a:t>
            </a:r>
            <a:endParaRPr lang="vi-VN" sz="1500"/>
          </a:p>
        </p:txBody>
      </p:sp>
      <p:sp>
        <p:nvSpPr>
          <p:cNvPr id="16" name="Shape 16"/>
          <p:cNvSpPr/>
          <p:nvPr/>
        </p:nvSpPr>
        <p:spPr>
          <a:xfrm>
            <a:off x="723900" y="3819525"/>
            <a:ext cx="95250" cy="95250"/>
          </a:xfrm>
          <a:prstGeom prst="ellipse">
            <a:avLst/>
          </a:prstGeom>
          <a:solidFill>
            <a:srgbClr val="48B89A"/>
          </a:solidFill>
          <a:ln>
            <a:noFill/>
          </a:ln>
        </p:spPr>
      </p:sp>
      <p:sp>
        <p:nvSpPr>
          <p:cNvPr id="17" name="Shape 17"/>
          <p:cNvSpPr/>
          <p:nvPr/>
        </p:nvSpPr>
        <p:spPr>
          <a:xfrm>
            <a:off x="962025" y="3733800"/>
            <a:ext cx="1447800" cy="247650"/>
          </a:xfrm>
          <a:prstGeom prst="rect">
            <a:avLst/>
          </a:prstGeom>
          <a:noFill/>
          <a:ln>
            <a:noFill/>
          </a:ln>
        </p:spPr>
        <p:txBody>
          <a:bodyPr wrap="square" anchor="ctr" lIns="38100" rIns="38100" tIns="38100" bIns="38100">
            <a:normAutofit/>
          </a:bodyPr>
          <a:lstStyle/>
          <a:p>
            <a:pPr algn="l"/>
            <a:lnSpc>
              <a:spcPct val="112000"/>
            </a:lnSpc>
            <a:r>
              <a:rPr lang="vi-VN" sz="1500" b="1" i="0" dirty="0">
                <a:solidFill>
                  <a:srgbClr val="168878"/>
                </a:solidFill>
                <a:latin typeface="Arial"/>
                <a:ea typeface="Arial"/>
              </a:rPr>
              <a:t xml:space="preserve">Thiết bị</a:t>
            </a:r>
            <a:endParaRPr lang="vi-VN" sz="1500"/>
          </a:p>
        </p:txBody>
      </p:sp>
      <p:sp>
        <p:nvSpPr>
          <p:cNvPr id="18" name="Shape 18"/>
          <p:cNvSpPr/>
          <p:nvPr/>
        </p:nvSpPr>
        <p:spPr>
          <a:xfrm>
            <a:off x="962025" y="4010025"/>
            <a:ext cx="3924300" cy="371475"/>
          </a:xfrm>
          <a:prstGeom prst="rect">
            <a:avLst/>
          </a:prstGeom>
          <a:noFill/>
          <a:ln>
            <a:noFill/>
          </a:ln>
        </p:spPr>
        <p:txBody>
          <a:bodyPr wrap="square" anchor="ctr" lIns="38100" rIns="38100" tIns="38100" bIns="38100">
            <a:normAutofit/>
          </a:bodyPr>
          <a:lstStyle/>
          <a:p>
            <a:pPr algn="l"/>
            <a:lnSpc>
              <a:spcPct val="112000"/>
            </a:lnSpc>
            <a:r>
              <a:rPr lang="vi-VN" sz="1500" b="0" i="0" dirty="0">
                <a:solidFill>
                  <a:srgbClr val="203E3B"/>
                </a:solidFill>
                <a:latin typeface="Arial"/>
                <a:ea typeface="Arial"/>
              </a:rPr>
              <a:t xml:space="preserve">Agent chạy hiển thị ở user mode</a:t>
            </a:r>
            <a:endParaRPr lang="vi-VN" sz="1500"/>
          </a:p>
        </p:txBody>
      </p:sp>
      <p:sp>
        <p:nvSpPr>
          <p:cNvPr id="19" name="Shape 19"/>
          <p:cNvSpPr/>
          <p:nvPr/>
        </p:nvSpPr>
        <p:spPr>
          <a:xfrm>
            <a:off x="5943600" y="1571625"/>
            <a:ext cx="5334000" cy="3857625"/>
          </a:xfrm>
          <a:prstGeom prst="roundRect">
            <a:avLst/>
          </a:prstGeom>
          <a:solidFill>
            <a:srgbClr val="123B38"/>
          </a:solidFill>
          <a:ln>
            <a:noFill/>
          </a:ln>
        </p:spPr>
      </p:sp>
      <p:sp>
        <p:nvSpPr>
          <p:cNvPr id="20" name="Shape 20"/>
          <p:cNvSpPr/>
          <p:nvPr/>
        </p:nvSpPr>
        <p:spPr>
          <a:xfrm>
            <a:off x="6286500" y="1866900"/>
            <a:ext cx="4495800" cy="3429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8100" rIns="38100" tIns="38100" bIns="38100">
            <a:normAutofit/>
          </a:bodyPr>
          <a:lstStyle/>
          <a:p>
            <a:pPr algn="l"/>
            <a:lnSpc>
              <a:spcPct val="112000"/>
            </a:lnSpc>
            <a:r>
              <a:rPr lang="vi-VN" sz="1400" b="1" i="0" dirty="0">
                <a:solidFill>
                  <a:srgbClr val="B5DED0"/>
                </a:solidFill>
                <a:latin typeface="Arial"/>
                <a:ea typeface="Arial"/>
              </a:rPr>
              <a:t xml:space="preserve">MẶC ĐỊNH AN TOÀN CHO LAB</a:t>
            </a:r>
            <a:endParaRPr lang="vi-VN" sz="1400"/>
          </a:p>
        </p:txBody>
      </p:sp>
      <p:sp>
        <p:nvSpPr>
          <p:cNvPr id="21" name="Shape 21"/>
          <p:cNvSpPr/>
          <p:nvPr/>
        </p:nvSpPr>
        <p:spPr>
          <a:xfrm>
            <a:off x="6305550" y="2476500"/>
            <a:ext cx="95250" cy="95250"/>
          </a:xfrm>
          <a:prstGeom prst="ellipse">
            <a:avLst/>
          </a:prstGeom>
          <a:solidFill>
            <a:srgbClr val="E9AC51"/>
          </a:solidFill>
          <a:ln>
            <a:noFill/>
          </a:ln>
        </p:spPr>
      </p:sp>
      <p:sp>
        <p:nvSpPr>
          <p:cNvPr id="22" name="Shape 22"/>
          <p:cNvSpPr/>
          <p:nvPr/>
        </p:nvSpPr>
        <p:spPr>
          <a:xfrm>
            <a:off x="6553200" y="2324100"/>
            <a:ext cx="4248150" cy="409575"/>
          </a:xfrm>
          <a:prstGeom prst="rect">
            <a:avLst/>
          </a:prstGeom>
          <a:noFill/>
          <a:ln>
            <a:noFill/>
          </a:ln>
        </p:spPr>
        <p:txBody>
          <a:bodyPr wrap="square" anchor="ctr" lIns="38100" rIns="38100" tIns="38100" bIns="38100">
            <a:normAutofit/>
          </a:bodyPr>
          <a:lstStyle/>
          <a:p>
            <a:pPr algn="l"/>
            <a:lnSpc>
              <a:spcPct val="112000"/>
            </a:lnSpc>
            <a:r>
              <a:rPr lang="vi-VN" sz="1600" b="0" i="0" dirty="0">
                <a:solidFill>
                  <a:srgbClr val="FFFFFF"/>
                </a:solidFill>
                <a:latin typeface="Arial"/>
                <a:ea typeface="Arial"/>
              </a:rPr>
              <a:t xml:space="preserve">DNS chỉ loopback, không đổi DNS Windows</a:t>
            </a:r>
            <a:endParaRPr lang="vi-VN" sz="1600"/>
          </a:p>
        </p:txBody>
      </p:sp>
      <p:sp>
        <p:nvSpPr>
          <p:cNvPr id="23" name="Shape 23"/>
          <p:cNvSpPr/>
          <p:nvPr/>
        </p:nvSpPr>
        <p:spPr>
          <a:xfrm>
            <a:off x="6305550" y="3067050"/>
            <a:ext cx="95250" cy="95250"/>
          </a:xfrm>
          <a:prstGeom prst="ellipse">
            <a:avLst/>
          </a:prstGeom>
          <a:solidFill>
            <a:srgbClr val="E9AC51"/>
          </a:solidFill>
          <a:ln>
            <a:noFill/>
          </a:ln>
        </p:spPr>
      </p:sp>
      <p:sp>
        <p:nvSpPr>
          <p:cNvPr id="24" name="Shape 24"/>
          <p:cNvSpPr/>
          <p:nvPr/>
        </p:nvSpPr>
        <p:spPr>
          <a:xfrm>
            <a:off x="6553200" y="2914650"/>
            <a:ext cx="4248150" cy="409575"/>
          </a:xfrm>
          <a:prstGeom prst="rect">
            <a:avLst/>
          </a:prstGeom>
          <a:noFill/>
          <a:ln>
            <a:noFill/>
          </a:ln>
        </p:spPr>
        <p:txBody>
          <a:bodyPr wrap="square" anchor="ctr" lIns="38100" rIns="38100" tIns="38100" bIns="38100">
            <a:normAutofit/>
          </a:bodyPr>
          <a:lstStyle/>
          <a:p>
            <a:pPr algn="l"/>
            <a:lnSpc>
              <a:spcPct val="112000"/>
            </a:lnSpc>
            <a:r>
              <a:rPr lang="vi-VN" sz="1600" b="0" i="0" dirty="0">
                <a:solidFill>
                  <a:srgbClr val="FFFFFF"/>
                </a:solidFill>
                <a:latin typeface="Arial"/>
                <a:ea typeface="Arial"/>
              </a:rPr>
              <a:t xml:space="preserve">Thu thập activity cần opt-in</a:t>
            </a:r>
            <a:endParaRPr lang="vi-VN" sz="1600"/>
          </a:p>
        </p:txBody>
      </p:sp>
      <p:sp>
        <p:nvSpPr>
          <p:cNvPr id="25" name="Shape 25"/>
          <p:cNvSpPr/>
          <p:nvPr/>
        </p:nvSpPr>
        <p:spPr>
          <a:xfrm>
            <a:off x="6305550" y="3657600"/>
            <a:ext cx="95250" cy="95250"/>
          </a:xfrm>
          <a:prstGeom prst="ellipse">
            <a:avLst/>
          </a:prstGeom>
          <a:solidFill>
            <a:srgbClr val="E9AC51"/>
          </a:solidFill>
          <a:ln>
            <a:noFill/>
          </a:ln>
        </p:spPr>
      </p:sp>
      <p:sp>
        <p:nvSpPr>
          <p:cNvPr id="26" name="Shape 26"/>
          <p:cNvSpPr/>
          <p:nvPr/>
        </p:nvSpPr>
        <p:spPr>
          <a:xfrm>
            <a:off x="6553200" y="3505200"/>
            <a:ext cx="4248150" cy="409575"/>
          </a:xfrm>
          <a:prstGeom prst="rect">
            <a:avLst/>
          </a:prstGeom>
          <a:noFill/>
          <a:ln>
            <a:noFill/>
          </a:ln>
        </p:spPr>
        <p:txBody>
          <a:bodyPr wrap="square" anchor="ctr" lIns="38100" rIns="38100" tIns="38100" bIns="38100">
            <a:normAutofit/>
          </a:bodyPr>
          <a:lstStyle/>
          <a:p>
            <a:pPr algn="l"/>
            <a:lnSpc>
              <a:spcPct val="112000"/>
            </a:lnSpc>
            <a:r>
              <a:rPr lang="vi-VN" sz="1600" b="0" i="0" dirty="0">
                <a:solidFill>
                  <a:srgbClr val="FFFFFF"/>
                </a:solidFill>
                <a:latin typeface="Arial"/>
                <a:ea typeface="Arial"/>
              </a:rPr>
              <a:t xml:space="preserve">Kết thúc process cần bật cờ riêng</a:t>
            </a:r>
            <a:endParaRPr lang="vi-VN" sz="1600"/>
          </a:p>
        </p:txBody>
      </p:sp>
      <p:sp>
        <p:nvSpPr>
          <p:cNvPr id="27" name="Shape 27"/>
          <p:cNvSpPr/>
          <p:nvPr/>
        </p:nvSpPr>
        <p:spPr>
          <a:xfrm>
            <a:off x="6305550" y="4248150"/>
            <a:ext cx="95250" cy="95250"/>
          </a:xfrm>
          <a:prstGeom prst="ellipse">
            <a:avLst/>
          </a:prstGeom>
          <a:solidFill>
            <a:srgbClr val="E9AC51"/>
          </a:solidFill>
          <a:ln>
            <a:noFill/>
          </a:ln>
        </p:spPr>
      </p:sp>
      <p:sp>
        <p:nvSpPr>
          <p:cNvPr id="28" name="Shape 28"/>
          <p:cNvSpPr/>
          <p:nvPr/>
        </p:nvSpPr>
        <p:spPr>
          <a:xfrm>
            <a:off x="6553200" y="4095750"/>
            <a:ext cx="4248150" cy="409575"/>
          </a:xfrm>
          <a:prstGeom prst="rect">
            <a:avLst/>
          </a:prstGeom>
          <a:noFill/>
          <a:ln>
            <a:noFill/>
          </a:ln>
        </p:spPr>
        <p:txBody>
          <a:bodyPr wrap="square" anchor="ctr" lIns="38100" rIns="38100" tIns="38100" bIns="38100">
            <a:normAutofit/>
          </a:bodyPr>
          <a:lstStyle/>
          <a:p>
            <a:pPr algn="l"/>
            <a:lnSpc>
              <a:spcPct val="112000"/>
            </a:lnSpc>
            <a:r>
              <a:rPr lang="vi-VN" sz="1600" b="0" i="0" dirty="0">
                <a:solidFill>
                  <a:srgbClr val="FFFFFF"/>
                </a:solidFill>
                <a:latin typeface="Arial"/>
                <a:ea typeface="Arial"/>
              </a:rPr>
              <a:t xml:space="preserve">Khóa Windows tắt mặc định</a:t>
            </a:r>
            <a:endParaRPr lang="vi-VN" sz="1600"/>
          </a:p>
        </p:txBody>
      </p:sp>
      <p:sp>
        <p:nvSpPr>
          <p:cNvPr id="29" name="Shape 29"/>
          <p:cNvSpPr/>
          <p:nvPr/>
        </p:nvSpPr>
        <p:spPr>
          <a:xfrm>
            <a:off x="685800" y="5057775"/>
            <a:ext cx="4667250" cy="647700"/>
          </a:xfrm>
          <a:prstGeom prst="rect">
            <a:avLst/>
          </a:prstGeom>
          <a:noFill/>
          <a:ln>
            <a:noFill/>
          </a:ln>
        </p:spPr>
        <p:txBody>
          <a:bodyPr wrap="square" anchor="top" lIns="38100" rIns="38100" tIns="38100" bIns="38100">
            <a:normAutofit/>
          </a:bodyPr>
          <a:lstStyle/>
          <a:p>
            <a:pPr algn="l"/>
            <a:lnSpc>
              <a:spcPct val="112000"/>
            </a:lnSpc>
            <a:r>
              <a:rPr lang="vi-VN" sz="1500" b="0" i="0" dirty="0">
                <a:solidFill>
                  <a:srgbClr val="617A75"/>
                </a:solidFill>
                <a:latin typeface="Arial"/>
                <a:ea typeface="Arial"/>
              </a:rPr>
              <a:t xml:space="preserve">Không thu tiêu đề cửa sổ, phím gõ, nội dung tài liệu hay ảnh màn hình.</a:t>
            </a:r>
            <a:endParaRPr lang="vi-VN" sz="15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7F2"/>
          </a:solidFill>
          <a:ln>
            <a:noFill/>
          </a:ln>
        </p:spPr>
      </p:sp>
      <p:sp>
        <p:nvSpPr>
          <p:cNvPr id="3" name="Shape 3"/>
          <p:cNvSpPr/>
          <p:nvPr/>
        </p:nvSpPr>
        <p:spPr>
          <a:xfrm>
            <a:off x="0" y="0"/>
            <a:ext cx="133350" cy="6858000"/>
          </a:xfrm>
          <a:prstGeom prst="rect">
            <a:avLst/>
          </a:prstGeom>
          <a:solidFill>
            <a:srgbClr val="168878"/>
          </a:solidFill>
          <a:ln>
            <a:noFill/>
          </a:ln>
        </p:spPr>
      </p:sp>
      <p:sp>
        <p:nvSpPr>
          <p:cNvPr id="4" name="Shape 4"/>
          <p:cNvSpPr/>
          <p:nvPr/>
        </p:nvSpPr>
        <p:spPr>
          <a:xfrm>
            <a:off x="609600" y="323850"/>
            <a:ext cx="9525000" cy="238125"/>
          </a:xfrm>
          <a:prstGeom prst="rect">
            <a:avLst/>
          </a:prstGeom>
          <a:noFill/>
          <a:ln>
            <a:noFill/>
          </a:ln>
        </p:spPr>
        <p:txBody>
          <a:bodyPr wrap="square" anchor="ctr" lIns="38100" rIns="38100" tIns="38100" bIns="38100">
            <a:normAutofit/>
          </a:bodyPr>
          <a:lstStyle/>
          <a:p>
            <a:pPr algn="l"/>
            <a:lnSpc>
              <a:spcPct val="112000"/>
            </a:lnSpc>
            <a:r>
              <a:rPr lang="vi-VN" sz="1200" b="1" i="0" dirty="0">
                <a:solidFill>
                  <a:srgbClr val="168878"/>
                </a:solidFill>
                <a:latin typeface="Arial"/>
                <a:ea typeface="Arial"/>
              </a:rPr>
              <a:t xml:space="preserve">07  /  KẾT LUẬN</a:t>
            </a:r>
            <a:endParaRPr lang="vi-VN" sz="1200"/>
          </a:p>
        </p:txBody>
      </p:sp>
      <p:sp>
        <p:nvSpPr>
          <p:cNvPr id="5" name="Shape 5"/>
          <p:cNvSpPr/>
          <p:nvPr/>
        </p:nvSpPr>
        <p:spPr>
          <a:xfrm>
            <a:off x="609600" y="600075"/>
            <a:ext cx="10668000" cy="514350"/>
          </a:xfrm>
          <a:prstGeom prst="rect">
            <a:avLst/>
          </a:prstGeom>
          <a:noFill/>
          <a:ln>
            <a:noFill/>
          </a:ln>
        </p:spPr>
        <p:txBody>
          <a:bodyPr wrap="square" anchor="ctr" lIns="38100" rIns="38100" tIns="38100" bIns="38100">
            <a:normAutofit/>
          </a:bodyPr>
          <a:lstStyle/>
          <a:p>
            <a:pPr algn="l"/>
            <a:lnSpc>
              <a:spcPct val="112000"/>
            </a:lnSpc>
            <a:r>
              <a:rPr lang="vi-VN" sz="3100" b="1" i="0" dirty="0">
                <a:solidFill>
                  <a:srgbClr val="123B38"/>
                </a:solidFill>
                <a:latin typeface="Arial"/>
                <a:ea typeface="Arial"/>
              </a:rPr>
              <a:t xml:space="preserve">Trạng thái hiện tại và bước tiếp theo</a:t>
            </a:r>
            <a:endParaRPr lang="vi-VN" sz="3100"/>
          </a:p>
        </p:txBody>
      </p:sp>
      <p:sp>
        <p:nvSpPr>
          <p:cNvPr id="6" name="Shape 6"/>
          <p:cNvSpPr/>
          <p:nvPr/>
        </p:nvSpPr>
        <p:spPr>
          <a:xfrm>
            <a:off x="609600" y="1219200"/>
            <a:ext cx="10953750" cy="9525"/>
          </a:xfrm>
          <a:prstGeom prst="rect">
            <a:avLst/>
          </a:prstGeom>
          <a:solidFill>
            <a:srgbClr val="D9E7E0"/>
          </a:solidFill>
          <a:ln>
            <a:noFill/>
          </a:ln>
        </p:spPr>
      </p:sp>
      <p:sp>
        <p:nvSpPr>
          <p:cNvPr id="7" name="Shape 7"/>
          <p:cNvSpPr/>
          <p:nvPr/>
        </p:nvSpPr>
        <p:spPr>
          <a:xfrm>
            <a:off x="609600" y="6438900"/>
            <a:ext cx="8096250" cy="1905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8100" rIns="38100" tIns="38100" bIns="38100">
            <a:normAutofit/>
          </a:bodyPr>
          <a:lstStyle/>
          <a:p>
            <a:pPr algn="l"/>
            <a:lnSpc>
              <a:spcPct val="112000"/>
            </a:lnSpc>
            <a:r>
              <a:rPr lang="vi-VN" sz="1000" b="0" i="0" dirty="0">
                <a:solidFill>
                  <a:srgbClr val="617A75"/>
                </a:solidFill>
                <a:latin typeface="Arial"/>
                <a:ea typeface="Arial"/>
              </a:rPr>
              <a:t xml:space="preserve">OGK  /  Prototype học tập  /  Tuần 1–3</a:t>
            </a:r>
            <a:endParaRPr lang="vi-VN" sz="1000"/>
          </a:p>
        </p:txBody>
      </p:sp>
      <p:sp>
        <p:nvSpPr>
          <p:cNvPr id="8" name="Shape 8"/>
          <p:cNvSpPr/>
          <p:nvPr/>
        </p:nvSpPr>
        <p:spPr>
          <a:xfrm>
            <a:off x="11049000" y="6419850"/>
            <a:ext cx="476250" cy="209550"/>
          </a:xfrm>
          <a:prstGeom prst="rect">
            <a:avLst/>
          </a:prstGeom>
          <a:noFill/>
          <a:ln>
            <a:noFill/>
          </a:ln>
        </p:spPr>
        <p:txBody>
          <a:bodyPr wrap="square" anchor="ctr" lIns="38100" rIns="38100" tIns="38100" bIns="38100">
            <a:normAutofit/>
          </a:bodyPr>
          <a:lstStyle/>
          <a:p>
            <a:pPr algn="r"/>
            <a:lnSpc>
              <a:spcPct val="112000"/>
            </a:lnSpc>
            <a:r>
              <a:rPr lang="vi-VN" sz="1100" b="1" i="0" dirty="0">
                <a:solidFill>
                  <a:srgbClr val="168878"/>
                </a:solidFill>
                <a:latin typeface="Arial"/>
                <a:ea typeface="Arial"/>
              </a:rPr>
              <a:t xml:space="preserve">08</a:t>
            </a:r>
            <a:endParaRPr lang="vi-VN" sz="1100"/>
          </a:p>
        </p:txBody>
      </p:sp>
      <p:sp>
        <p:nvSpPr>
          <p:cNvPr id="9" name="Shape 9"/>
          <p:cNvSpPr/>
          <p:nvPr/>
        </p:nvSpPr>
        <p:spPr>
          <a:xfrm>
            <a:off x="685800" y="1581150"/>
            <a:ext cx="4933950" cy="3857625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5DE"/>
            </a:solidFill>
          </a:ln>
        </p:spPr>
      </p:sp>
      <p:sp>
        <p:nvSpPr>
          <p:cNvPr id="10" name="Shape 10"/>
          <p:cNvSpPr/>
          <p:nvPr/>
        </p:nvSpPr>
        <p:spPr>
          <a:xfrm>
            <a:off x="971550" y="1847850"/>
            <a:ext cx="4267200" cy="323850"/>
          </a:xfrm>
          <a:prstGeom prst="rect">
            <a:avLst/>
          </a:prstGeom>
          <a:noFill/>
          <a:ln>
            <a:noFill/>
          </a:ln>
        </p:spPr>
        <p:txBody>
          <a:bodyPr wrap="square" anchor="ctr" lIns="38100" rIns="38100" tIns="38100" bIns="38100">
            <a:normAutofit/>
          </a:bodyPr>
          <a:lstStyle/>
          <a:p>
            <a:pPr algn="l"/>
            <a:lnSpc>
              <a:spcPct val="112000"/>
            </a:lnSpc>
            <a:r>
              <a:rPr lang="vi-VN" sz="1400" b="1" i="0" dirty="0">
                <a:solidFill>
                  <a:srgbClr val="168878"/>
                </a:solidFill>
                <a:latin typeface="Arial"/>
                <a:ea typeface="Arial"/>
              </a:rPr>
              <a:t xml:space="preserve">ĐÃ CÓ TRONG PROTOTYPE</a:t>
            </a:r>
            <a:endParaRPr lang="vi-VN" sz="1400"/>
          </a:p>
        </p:txBody>
      </p:sp>
      <p:sp>
        <p:nvSpPr>
          <p:cNvPr id="11" name="Shape 11"/>
          <p:cNvSpPr/>
          <p:nvPr/>
        </p:nvSpPr>
        <p:spPr>
          <a:xfrm>
            <a:off x="990600" y="2466975"/>
            <a:ext cx="85725" cy="85725"/>
          </a:xfrm>
          <a:prstGeom prst="ellipse">
            <a:avLst/>
          </a:prstGeom>
          <a:solidFill>
            <a:srgbClr val="48B89A"/>
          </a:solidFill>
          <a:ln>
            <a:noFill/>
          </a:ln>
        </p:spPr>
      </p:sp>
      <p:sp>
        <p:nvSpPr>
          <p:cNvPr id="12" name="Shape 12"/>
          <p:cNvSpPr/>
          <p:nvPr/>
        </p:nvSpPr>
        <p:spPr>
          <a:xfrm>
            <a:off x="1219200" y="2305050"/>
            <a:ext cx="4000500" cy="409575"/>
          </a:xfrm>
          <a:prstGeom prst="rect">
            <a:avLst/>
          </a:prstGeom>
          <a:noFill/>
          <a:ln>
            <a:noFill/>
          </a:ln>
        </p:spPr>
        <p:txBody>
          <a:bodyPr wrap="square" anchor="ctr" lIns="38100" rIns="38100" tIns="38100" bIns="38100">
            <a:normAutofit/>
          </a:bodyPr>
          <a:lstStyle/>
          <a:p>
            <a:pPr algn="l"/>
            <a:lnSpc>
              <a:spcPct val="112000"/>
            </a:lnSpc>
            <a:r>
              <a:rPr lang="vi-VN" sz="1600" b="0" i="0" dirty="0">
                <a:solidFill>
                  <a:srgbClr val="203E3B"/>
                </a:solidFill>
                <a:latin typeface="Arial"/>
                <a:ea typeface="Arial"/>
              </a:rPr>
              <a:t xml:space="preserve">API + SQLite + dashboard mẫu</a:t>
            </a:r>
            <a:endParaRPr lang="vi-VN" sz="1600"/>
          </a:p>
        </p:txBody>
      </p:sp>
      <p:sp>
        <p:nvSpPr>
          <p:cNvPr id="13" name="Shape 13"/>
          <p:cNvSpPr/>
          <p:nvPr/>
        </p:nvSpPr>
        <p:spPr>
          <a:xfrm>
            <a:off x="990600" y="3038475"/>
            <a:ext cx="85725" cy="85725"/>
          </a:xfrm>
          <a:prstGeom prst="ellipse">
            <a:avLst/>
          </a:prstGeom>
          <a:solidFill>
            <a:srgbClr val="48B89A"/>
          </a:solidFill>
          <a:ln>
            <a:noFill/>
          </a:ln>
        </p:spPr>
      </p:sp>
      <p:sp>
        <p:nvSpPr>
          <p:cNvPr id="14" name="Shape 14"/>
          <p:cNvSpPr/>
          <p:nvPr/>
        </p:nvSpPr>
        <p:spPr>
          <a:xfrm>
            <a:off x="1219200" y="2876550"/>
            <a:ext cx="4000500" cy="409575"/>
          </a:xfrm>
          <a:prstGeom prst="rect">
            <a:avLst/>
          </a:prstGeom>
          <a:noFill/>
          <a:ln>
            <a:noFill/>
          </a:ln>
        </p:spPr>
        <p:txBody>
          <a:bodyPr wrap="square" anchor="ctr" lIns="38100" rIns="38100" tIns="38100" bIns="38100">
            <a:normAutofit/>
          </a:bodyPr>
          <a:lstStyle/>
          <a:p>
            <a:pPr algn="l"/>
            <a:lnSpc>
              <a:spcPct val="112000"/>
            </a:lnSpc>
            <a:r>
              <a:rPr lang="vi-VN" sz="1600" b="0" i="0" dirty="0">
                <a:solidFill>
                  <a:srgbClr val="203E3B"/>
                </a:solidFill>
                <a:latin typeface="Arial"/>
                <a:ea typeface="Arial"/>
              </a:rPr>
              <a:t xml:space="preserve">Quota, lịch, policy HMAC</a:t>
            </a:r>
            <a:endParaRPr lang="vi-VN" sz="1600"/>
          </a:p>
        </p:txBody>
      </p:sp>
      <p:sp>
        <p:nvSpPr>
          <p:cNvPr id="15" name="Shape 15"/>
          <p:cNvSpPr/>
          <p:nvPr/>
        </p:nvSpPr>
        <p:spPr>
          <a:xfrm>
            <a:off x="990600" y="3609975"/>
            <a:ext cx="85725" cy="85725"/>
          </a:xfrm>
          <a:prstGeom prst="ellipse">
            <a:avLst/>
          </a:prstGeom>
          <a:solidFill>
            <a:srgbClr val="48B89A"/>
          </a:solidFill>
          <a:ln>
            <a:noFill/>
          </a:ln>
        </p:spPr>
      </p:sp>
      <p:sp>
        <p:nvSpPr>
          <p:cNvPr id="16" name="Shape 16"/>
          <p:cNvSpPr/>
          <p:nvPr/>
        </p:nvSpPr>
        <p:spPr>
          <a:xfrm>
            <a:off x="1219200" y="3448050"/>
            <a:ext cx="4000500" cy="409575"/>
          </a:xfrm>
          <a:prstGeom prst="rect">
            <a:avLst/>
          </a:prstGeom>
          <a:noFill/>
          <a:ln>
            <a:noFill/>
          </a:ln>
        </p:spPr>
        <p:txBody>
          <a:bodyPr wrap="square" anchor="ctr" lIns="38100" rIns="38100" tIns="38100" bIns="38100">
            <a:normAutofit/>
          </a:bodyPr>
          <a:lstStyle/>
          <a:p>
            <a:pPr algn="l"/>
            <a:lnSpc>
              <a:spcPct val="112000"/>
            </a:lnSpc>
            <a:r>
              <a:rPr lang="vi-VN" sz="1600" b="0" i="0" dirty="0">
                <a:solidFill>
                  <a:srgbClr val="203E3B"/>
                </a:solidFill>
                <a:latin typeface="Arial"/>
                <a:ea typeface="Arial"/>
              </a:rPr>
              <a:t xml:space="preserve">Fixture domain .test và DNS demo</a:t>
            </a:r>
            <a:endParaRPr lang="vi-VN" sz="1600"/>
          </a:p>
        </p:txBody>
      </p:sp>
      <p:sp>
        <p:nvSpPr>
          <p:cNvPr id="17" name="Shape 17"/>
          <p:cNvSpPr/>
          <p:nvPr/>
        </p:nvSpPr>
        <p:spPr>
          <a:xfrm>
            <a:off x="990600" y="4181475"/>
            <a:ext cx="85725" cy="85725"/>
          </a:xfrm>
          <a:prstGeom prst="ellipse">
            <a:avLst/>
          </a:prstGeom>
          <a:solidFill>
            <a:srgbClr val="48B89A"/>
          </a:solidFill>
          <a:ln>
            <a:noFill/>
          </a:ln>
        </p:spPr>
      </p:sp>
      <p:sp>
        <p:nvSpPr>
          <p:cNvPr id="18" name="Shape 18"/>
          <p:cNvSpPr/>
          <p:nvPr/>
        </p:nvSpPr>
        <p:spPr>
          <a:xfrm>
            <a:off x="1219200" y="4019550"/>
            <a:ext cx="4000500" cy="409575"/>
          </a:xfrm>
          <a:prstGeom prst="rect">
            <a:avLst/>
          </a:prstGeom>
          <a:noFill/>
          <a:ln>
            <a:noFill/>
          </a:ln>
        </p:spPr>
        <p:txBody>
          <a:bodyPr wrap="square" anchor="ctr" lIns="38100" rIns="38100" tIns="38100" bIns="38100">
            <a:normAutofit/>
          </a:bodyPr>
          <a:lstStyle/>
          <a:p>
            <a:pPr algn="l"/>
            <a:lnSpc>
              <a:spcPct val="112000"/>
            </a:lnSpc>
            <a:r>
              <a:rPr lang="vi-VN" sz="1600" b="0" i="0" dirty="0">
                <a:solidFill>
                  <a:srgbClr val="203E3B"/>
                </a:solidFill>
                <a:latin typeface="Arial"/>
                <a:ea typeface="Arial"/>
              </a:rPr>
              <a:t xml:space="preserve">Event, báo cáo và trang minh bạch</a:t>
            </a:r>
            <a:endParaRPr lang="vi-VN" sz="1600"/>
          </a:p>
        </p:txBody>
      </p:sp>
      <p:sp>
        <p:nvSpPr>
          <p:cNvPr id="19" name="Shape 19"/>
          <p:cNvSpPr/>
          <p:nvPr/>
        </p:nvSpPr>
        <p:spPr>
          <a:xfrm>
            <a:off x="6191250" y="1581150"/>
            <a:ext cx="5314950" cy="3857625"/>
          </a:xfrm>
          <a:prstGeom prst="roundRect">
            <a:avLst/>
          </a:prstGeom>
          <a:solidFill>
            <a:srgbClr val="FFF4E1"/>
          </a:solidFill>
          <a:ln w="12700">
            <a:solidFill>
              <a:srgbClr val="F1DFC1"/>
            </a:solidFill>
          </a:ln>
        </p:spPr>
      </p:sp>
      <p:sp>
        <p:nvSpPr>
          <p:cNvPr id="20" name="Shape 20"/>
          <p:cNvSpPr/>
          <p:nvPr/>
        </p:nvSpPr>
        <p:spPr>
          <a:xfrm>
            <a:off x="6486525" y="1847850"/>
            <a:ext cx="4667250" cy="323850"/>
          </a:xfrm>
          <a:prstGeom prst="rect">
            <a:avLst/>
          </a:prstGeom>
          <a:noFill/>
          <a:ln>
            <a:noFill/>
          </a:ln>
        </p:spPr>
        <p:txBody>
          <a:bodyPr wrap="square" anchor="ctr" lIns="38100" rIns="38100" tIns="38100" bIns="38100">
            <a:normAutofit/>
          </a:bodyPr>
          <a:lstStyle/>
          <a:p>
            <a:pPr algn="l"/>
            <a:lnSpc>
              <a:spcPct val="112000"/>
            </a:lnSpc>
            <a:r>
              <a:rPr lang="vi-VN" sz="1400" b="1" i="0" dirty="0">
                <a:solidFill>
                  <a:srgbClr val="A36B17"/>
                </a:solidFill>
                <a:latin typeface="Arial"/>
                <a:ea typeface="Arial"/>
              </a:rPr>
              <a:t xml:space="preserve">CHƯA ĐƯỢC KIỂM CHỨNG / HOÀN THIỆN</a:t>
            </a:r>
            <a:endParaRPr lang="vi-VN" sz="1400"/>
          </a:p>
        </p:txBody>
      </p:sp>
      <p:sp>
        <p:nvSpPr>
          <p:cNvPr id="21" name="Shape 21"/>
          <p:cNvSpPr/>
          <p:nvPr/>
        </p:nvSpPr>
        <p:spPr>
          <a:xfrm>
            <a:off x="6505575" y="2466975"/>
            <a:ext cx="85725" cy="85725"/>
          </a:xfrm>
          <a:prstGeom prst="ellipse">
            <a:avLst/>
          </a:prstGeom>
          <a:solidFill>
            <a:srgbClr val="E9AC51"/>
          </a:solidFill>
          <a:ln>
            <a:noFill/>
          </a:ln>
        </p:spPr>
      </p:sp>
      <p:sp>
        <p:nvSpPr>
          <p:cNvPr id="22" name="Shape 22"/>
          <p:cNvSpPr/>
          <p:nvPr/>
        </p:nvSpPr>
        <p:spPr>
          <a:xfrm>
            <a:off x="6734175" y="2305050"/>
            <a:ext cx="4191000" cy="409575"/>
          </a:xfrm>
          <a:prstGeom prst="rect">
            <a:avLst/>
          </a:prstGeom>
          <a:noFill/>
          <a:ln>
            <a:noFill/>
          </a:ln>
        </p:spPr>
        <p:txBody>
          <a:bodyPr wrap="square" anchor="ctr" lIns="38100" rIns="38100" tIns="38100" bIns="38100">
            <a:normAutofit/>
          </a:bodyPr>
          <a:lstStyle/>
          <a:p>
            <a:pPr algn="l"/>
            <a:lnSpc>
              <a:spcPct val="112000"/>
            </a:lnSpc>
            <a:r>
              <a:rPr lang="vi-VN" sz="1600" b="0" i="0" dirty="0">
                <a:solidFill>
                  <a:srgbClr val="203E3B"/>
                </a:solidFill>
                <a:latin typeface="Arial"/>
                <a:ea typeface="Arial"/>
              </a:rPr>
              <a:t xml:space="preserve">TLS, tài khoản và phân quyền theo gia đình</a:t>
            </a:r>
            <a:endParaRPr lang="vi-VN" sz="1600"/>
          </a:p>
        </p:txBody>
      </p:sp>
      <p:sp>
        <p:nvSpPr>
          <p:cNvPr id="23" name="Shape 23"/>
          <p:cNvSpPr/>
          <p:nvPr/>
        </p:nvSpPr>
        <p:spPr>
          <a:xfrm>
            <a:off x="6505575" y="3038475"/>
            <a:ext cx="85725" cy="85725"/>
          </a:xfrm>
          <a:prstGeom prst="ellipse">
            <a:avLst/>
          </a:prstGeom>
          <a:solidFill>
            <a:srgbClr val="E9AC51"/>
          </a:solidFill>
          <a:ln>
            <a:noFill/>
          </a:ln>
        </p:spPr>
      </p:sp>
      <p:sp>
        <p:nvSpPr>
          <p:cNvPr id="24" name="Shape 24"/>
          <p:cNvSpPr/>
          <p:nvPr/>
        </p:nvSpPr>
        <p:spPr>
          <a:xfrm>
            <a:off x="6734175" y="2876550"/>
            <a:ext cx="4191000" cy="409575"/>
          </a:xfrm>
          <a:prstGeom prst="rect">
            <a:avLst/>
          </a:prstGeom>
          <a:noFill/>
          <a:ln>
            <a:noFill/>
          </a:ln>
        </p:spPr>
        <p:txBody>
          <a:bodyPr wrap="square" anchor="ctr" lIns="38100" rIns="38100" tIns="38100" bIns="38100">
            <a:normAutofit/>
          </a:bodyPr>
          <a:lstStyle/>
          <a:p>
            <a:pPr algn="l"/>
            <a:lnSpc>
              <a:spcPct val="112000"/>
            </a:lnSpc>
            <a:r>
              <a:rPr lang="vi-VN" sz="1600" b="0" i="0" dirty="0">
                <a:solidFill>
                  <a:srgbClr val="203E3B"/>
                </a:solidFill>
                <a:latin typeface="Arial"/>
                <a:ea typeface="Arial"/>
              </a:rPr>
              <a:t xml:space="preserve">DoH/DoT, VPN, TCP và chống bypass</a:t>
            </a:r>
            <a:endParaRPr lang="vi-VN" sz="1600"/>
          </a:p>
        </p:txBody>
      </p:sp>
      <p:sp>
        <p:nvSpPr>
          <p:cNvPr id="25" name="Shape 25"/>
          <p:cNvSpPr/>
          <p:nvPr/>
        </p:nvSpPr>
        <p:spPr>
          <a:xfrm>
            <a:off x="6505575" y="3609975"/>
            <a:ext cx="85725" cy="85725"/>
          </a:xfrm>
          <a:prstGeom prst="ellipse">
            <a:avLst/>
          </a:prstGeom>
          <a:solidFill>
            <a:srgbClr val="E9AC51"/>
          </a:solidFill>
          <a:ln>
            <a:noFill/>
          </a:ln>
        </p:spPr>
      </p:sp>
      <p:sp>
        <p:nvSpPr>
          <p:cNvPr id="26" name="Shape 26"/>
          <p:cNvSpPr/>
          <p:nvPr/>
        </p:nvSpPr>
        <p:spPr>
          <a:xfrm>
            <a:off x="6734175" y="3448050"/>
            <a:ext cx="4191000" cy="409575"/>
          </a:xfrm>
          <a:prstGeom prst="rect">
            <a:avLst/>
          </a:prstGeom>
          <a:noFill/>
          <a:ln>
            <a:noFill/>
          </a:ln>
        </p:spPr>
        <p:txBody>
          <a:bodyPr wrap="square" anchor="ctr" lIns="38100" rIns="38100" tIns="38100" bIns="38100">
            <a:normAutofit/>
          </a:bodyPr>
          <a:lstStyle/>
          <a:p>
            <a:pPr algn="l"/>
            <a:lnSpc>
              <a:spcPct val="112000"/>
            </a:lnSpc>
            <a:r>
              <a:rPr lang="vi-VN" sz="1600" b="0" i="0" dirty="0">
                <a:solidFill>
                  <a:srgbClr val="203E3B"/>
                </a:solidFill>
                <a:latin typeface="Arial"/>
                <a:ea typeface="Arial"/>
              </a:rPr>
              <a:t xml:space="preserve">Độ chính xác trên website thật</a:t>
            </a:r>
            <a:endParaRPr lang="vi-VN" sz="1600"/>
          </a:p>
        </p:txBody>
      </p:sp>
      <p:sp>
        <p:nvSpPr>
          <p:cNvPr id="27" name="Shape 27"/>
          <p:cNvSpPr/>
          <p:nvPr/>
        </p:nvSpPr>
        <p:spPr>
          <a:xfrm>
            <a:off x="6505575" y="4181475"/>
            <a:ext cx="85725" cy="85725"/>
          </a:xfrm>
          <a:prstGeom prst="ellipse">
            <a:avLst/>
          </a:prstGeom>
          <a:solidFill>
            <a:srgbClr val="E9AC51"/>
          </a:solidFill>
          <a:ln>
            <a:noFill/>
          </a:ln>
        </p:spPr>
      </p:sp>
      <p:sp>
        <p:nvSpPr>
          <p:cNvPr id="28" name="Shape 28"/>
          <p:cNvSpPr/>
          <p:nvPr/>
        </p:nvSpPr>
        <p:spPr>
          <a:xfrm>
            <a:off x="6734175" y="4019550"/>
            <a:ext cx="4191000" cy="409575"/>
          </a:xfrm>
          <a:prstGeom prst="rect">
            <a:avLst/>
          </a:prstGeom>
          <a:noFill/>
          <a:ln>
            <a:noFill/>
          </a:ln>
        </p:spPr>
        <p:txBody>
          <a:bodyPr wrap="square" anchor="ctr" lIns="38100" rIns="38100" tIns="38100" bIns="38100">
            <a:normAutofit/>
          </a:bodyPr>
          <a:lstStyle/>
          <a:p>
            <a:pPr algn="l"/>
            <a:lnSpc>
              <a:spcPct val="112000"/>
            </a:lnSpc>
            <a:r>
              <a:rPr lang="vi-VN" sz="1600" b="0" i="0" dirty="0">
                <a:solidFill>
                  <a:srgbClr val="203E3B"/>
                </a:solidFill>
                <a:latin typeface="Arial"/>
                <a:ea typeface="Arial"/>
              </a:rPr>
              <a:t xml:space="preserve">Test, số liệu hiệu năng và nghiệm thu</a:t>
            </a:r>
            <a:endParaRPr lang="vi-VN" sz="1600"/>
          </a:p>
        </p:txBody>
      </p:sp>
      <p:sp>
        <p:nvSpPr>
          <p:cNvPr id="29" name="Shape 29"/>
          <p:cNvSpPr/>
          <p:nvPr/>
        </p:nvSpPr>
        <p:spPr>
          <a:xfrm>
            <a:off x="704850" y="5724525"/>
            <a:ext cx="10687050" cy="419100"/>
          </a:xfrm>
          <a:prstGeom prst="rect">
            <a:avLst/>
          </a:prstGeom>
          <a:noFill/>
          <a:ln>
            <a:noFill/>
          </a:ln>
        </p:spPr>
        <p:txBody>
          <a:bodyPr wrap="square" anchor="ctr" lIns="38100" rIns="38100" tIns="38100" bIns="38100">
            <a:normAutofit/>
          </a:bodyPr>
          <a:lstStyle/>
          <a:p>
            <a:pPr algn="l"/>
            <a:lnSpc>
              <a:spcPct val="112000"/>
            </a:lnSpc>
            <a:r>
              <a:rPr lang="vi-VN" sz="1700" b="1" i="0" dirty="0">
                <a:solidFill>
                  <a:srgbClr val="123B38"/>
                </a:solidFill>
                <a:latin typeface="Arial"/>
                <a:ea typeface="Arial"/>
              </a:rPr>
              <a:t xml:space="preserve">Bước tiếp theo: hoàn thiện xác thực và kiểm thử trong lab trước khi đánh giá trên dữ liệu thật.</a:t>
            </a:r>
            <a:endParaRPr lang="vi-VN" sz="17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GK">
  <a:themeElements>
    <a:clrScheme name="OGK">
      <a:dk1>
        <a:srgbClr val="123B38"/>
      </a:dk1>
      <a:lt1>
        <a:srgbClr val="FFFFFF"/>
      </a:lt1>
      <a:dk2>
        <a:srgbClr val="203E3B"/>
      </a:dk2>
      <a:lt2>
        <a:srgbClr val="F5F7F2"/>
      </a:lt2>
      <a:accent1>
        <a:srgbClr val="168878"/>
      </a:accent1>
      <a:accent2>
        <a:srgbClr val="48B89A"/>
      </a:accent2>
      <a:accent3>
        <a:srgbClr val="E9AC51"/>
      </a:accent3>
      <a:accent4>
        <a:srgbClr val="D87862"/>
      </a:accent4>
      <a:accent5>
        <a:srgbClr val="547F75"/>
      </a:accent5>
      <a:accent6>
        <a:srgbClr val="91B8A9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GK">
      <a:fillStyleLst>
        <a:solidFill>
          <a:schemeClr val="phClr"/>
        </a:solidFill>
      </a:fillStyleLst>
      <a:lnStyleLst>
        <a:ln w="6350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PowerPoint</Application>
  <PresentationFormat>On-screen Show (16:9)</PresentationFormat>
  <Slides>8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OGK — Báo cáo tiến độ tuần 1–3</dc:title>
  <dc:subject>Prototype quản lý việc sử dụng máy tính của trẻ em</dc:subject>
  <dc:creator>OGK Project</dc:creator>
</cp:coreProperties>
</file>