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screen16x9"/>
  <p:notesSz cx="6858000" cy="9144000"/>
  <p:defaultTextStyle>
    <a:defPPr>
      <a:defRPr lang="vi-V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GK_Dashboard_Phuhuynh.png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GK_Client_Tre.png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658368" y="566928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300" b="1">
                <a:solidFill>
                  <a:srgbClr val="78CDC0"/>
                </a:solidFill>
                <a:latin typeface="Segoe UI"/>
                <a:ea typeface="Segoe UI"/>
                <a:cs typeface="Segoe UI"/>
              </a:rPr>
              <a:t xml:space="preserve">ĐỒ ÁN • BÁO CÁO TỔNG QUAN</a:t>
            </a:r>
            <a:endParaRPr lang="vi-VN" sz="1300"/>
          </a:p>
        </p:txBody>
      </p:sp>
      <p:sp>
        <p:nvSpPr>
          <p:cNvPr id="4" name="OGK title"/>
          <p:cNvSpPr/>
          <p:nvPr/>
        </p:nvSpPr>
        <p:spPr>
          <a:xfrm>
            <a:off x="658368" y="117043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5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OGK</a:t>
            </a:r>
            <a:endParaRPr lang="vi-VN" sz="5800"/>
          </a:p>
        </p:txBody>
      </p:sp>
      <p:sp>
        <p:nvSpPr>
          <p:cNvPr id="5" name="Subtitle"/>
          <p:cNvSpPr/>
          <p:nvPr/>
        </p:nvSpPr>
        <p:spPr>
          <a:xfrm>
            <a:off x="713232" y="2221992"/>
            <a:ext cx="5715000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Hỗ trợ gia đình quản lý việc sử dụng máy tính</a:t>
            </a:r>
            <a:endParaRPr lang="vi-VN" sz="2900"/>
          </a:p>
        </p:txBody>
      </p:sp>
      <p:sp>
        <p:nvSpPr>
          <p:cNvPr id="6" name="Description"/>
          <p:cNvSpPr/>
          <p:nvPr/>
        </p:nvSpPr>
        <p:spPr>
          <a:xfrm>
            <a:off x="731520" y="3493008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800" b="0">
                <a:solidFill>
                  <a:srgbClr val="D9E9E7"/>
                </a:solidFill>
                <a:latin typeface="Segoe UI"/>
                <a:ea typeface="Segoe UI"/>
                <a:cs typeface="Segoe UI"/>
              </a:rPr>
              <a:t xml:space="preserve">Dashboard phụ huynh • Agent Windows cho trẻ • Chính sách • Báo cáo minh bạch</a:t>
            </a:r>
            <a:endParaRPr lang="vi-VN" sz="1800"/>
          </a:p>
        </p:txBody>
      </p:sp>
      <p:sp>
        <p:nvSpPr>
          <p:cNvPr id="7" name="Date tag"/>
          <p:cNvSpPr/>
          <p:nvPr/>
        </p:nvSpPr>
        <p:spPr>
          <a:xfrm>
            <a:off x="731520" y="4681728"/>
            <a:ext cx="4663440" cy="502920"/>
          </a:xfrm>
          <a:prstGeom prst="roundRect">
            <a:avLst/>
          </a:prstGeom>
          <a:solidFill>
            <a:srgbClr val="1C4354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A9DCD4"/>
                </a:solidFill>
                <a:latin typeface="Segoe UI"/>
                <a:ea typeface="Segoe UI"/>
                <a:cs typeface="Segoe UI"/>
              </a:rPr>
              <a:t xml:space="preserve">Prototype học tập · Bản trình bày 2026</a:t>
            </a:r>
            <a:endParaRPr lang="vi-VN" sz="1400"/>
          </a:p>
        </p:txBody>
      </p:sp>
      <p:sp>
        <p:nvSpPr>
          <p:cNvPr id="8" name="PHỤ HUYNH"/>
          <p:cNvSpPr/>
          <p:nvPr/>
        </p:nvSpPr>
        <p:spPr>
          <a:xfrm>
            <a:off x="7086600" y="1325880"/>
            <a:ext cx="1325880" cy="566928"/>
          </a:xfrm>
          <a:prstGeom prst="roundRect">
            <a:avLst/>
          </a:prstGeom>
          <a:solidFill>
            <a:srgbClr val="0E8F83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PHỤ HUYNH</a:t>
            </a:r>
            <a:endParaRPr lang="vi-VN" sz="1200"/>
          </a:p>
        </p:txBody>
      </p:sp>
      <p:sp>
        <p:nvSpPr>
          <p:cNvPr id="9" name="SERVER"/>
          <p:cNvSpPr/>
          <p:nvPr/>
        </p:nvSpPr>
        <p:spPr>
          <a:xfrm>
            <a:off x="8247888" y="2816352"/>
            <a:ext cx="1325880" cy="566928"/>
          </a:xfrm>
          <a:prstGeom prst="roundRect">
            <a:avLst/>
          </a:prstGeom>
          <a:solidFill>
            <a:srgbClr val="285E6E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SERVER</a:t>
            </a:r>
            <a:endParaRPr lang="vi-VN" sz="1200"/>
          </a:p>
        </p:txBody>
      </p:sp>
      <p:sp>
        <p:nvSpPr>
          <p:cNvPr id="10" name="MÁY TRẺ"/>
          <p:cNvSpPr/>
          <p:nvPr/>
        </p:nvSpPr>
        <p:spPr>
          <a:xfrm>
            <a:off x="9418320" y="4315968"/>
            <a:ext cx="1325880" cy="566928"/>
          </a:xfrm>
          <a:prstGeom prst="roundRect">
            <a:avLst/>
          </a:prstGeom>
          <a:solidFill>
            <a:srgbClr val="285E6E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MÁY TRẺ</a:t>
            </a:r>
            <a:endParaRPr lang="vi-VN" sz="1200"/>
          </a:p>
        </p:txBody>
      </p:sp>
      <p:sp>
        <p:nvSpPr>
          <p:cNvPr id="80" name="Flow connector"/>
          <p:cNvSpPr/>
          <p:nvPr/>
        </p:nvSpPr>
        <p:spPr>
          <a:xfrm>
            <a:off x="7662672" y="2148840"/>
            <a:ext cx="36576" cy="603504"/>
          </a:xfrm>
          <a:prstGeom prst="rect">
            <a:avLst/>
          </a:prstGeom>
          <a:solidFill>
            <a:srgbClr val="65B7AA"/>
          </a:solidFill>
          <a:ln>
            <a:noFill/>
          </a:ln>
        </p:spPr>
      </p:sp>
      <p:sp>
        <p:nvSpPr>
          <p:cNvPr id="81" name="Flow connector"/>
          <p:cNvSpPr/>
          <p:nvPr/>
        </p:nvSpPr>
        <p:spPr>
          <a:xfrm>
            <a:off x="8823960" y="3063240"/>
            <a:ext cx="36576" cy="603504"/>
          </a:xfrm>
          <a:prstGeom prst="rect">
            <a:avLst/>
          </a:prstGeom>
          <a:solidFill>
            <a:srgbClr val="65B7AA"/>
          </a:solidFill>
          <a:ln>
            <a:noFill/>
          </a:ln>
        </p:spPr>
      </p:sp>
      <p:sp>
        <p:nvSpPr>
          <p:cNvPr id="86" name="Cover note"/>
          <p:cNvSpPr/>
          <p:nvPr/>
        </p:nvSpPr>
        <p:spPr>
          <a:xfrm>
            <a:off x="6748272" y="56235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A9DCD4"/>
                </a:solidFill>
                <a:latin typeface="Segoe UI"/>
                <a:ea typeface="Segoe UI"/>
                <a:cs typeface="Segoe UI"/>
              </a:rPr>
              <a:t xml:space="preserve">QUẢN LÝ • MINH BẠCH • ĐỒNG HÀNH</a:t>
            </a:r>
            <a:endParaRPr lang="vi-VN" sz="12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Nguồn: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01</a:t>
            </a:r>
            <a:endParaRPr lang="vi-V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01  /  TỔNG QUAN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Bài toán và mục tiêu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Quản lý thời gian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Thiết lập quota theo ngày và lịch cho phép theo từng mốc 30 phút.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Quy tắc theo độ tuổi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Quản lý danh sách domain, nhóm nội dung và tên ứng dụng.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Trao đổi hai chiều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Trẻ xem trạng thái, gửi xin thêm giờ; phụ huynh duyệt và gửi lệnh.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Minh bạch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Ghi nhận metadata sử dụng để hai phía cùng xem báo cáo và sự kiện.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docs/ARCHITECTURE.md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02</a:t>
            </a:r>
            <a:endParaRPr lang="vi-V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02  /  THÀNH PHẦN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Kiến trúc tổng thể</a:t>
            </a:r>
            <a:endParaRPr lang="vi-VN" sz="3200"/>
          </a:p>
        </p:txBody>
      </p:sp>
      <p:sp>
        <p:nvSpPr>
          <p:cNvPr id="5" name="Step number"/>
          <p:cNvSpPr/>
          <p:nvPr/>
        </p:nvSpPr>
        <p:spPr>
          <a:xfrm>
            <a:off x="64922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Phụ huynh</a:t>
            </a:r>
            <a:endParaRPr lang="vi-VN" sz="1400"/>
          </a:p>
        </p:txBody>
      </p:sp>
      <p:sp>
        <p:nvSpPr>
          <p:cNvPr id="6" name="Step description"/>
          <p:cNvSpPr/>
          <p:nvPr/>
        </p:nvSpPr>
        <p:spPr>
          <a:xfrm>
            <a:off x="63093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Dashboard web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nhập • chính sách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Báo cáo • duyệt yêu cầu</a:t>
            </a:r>
            <a:endParaRPr lang="vi-VN" sz="1700"/>
          </a:p>
        </p:txBody>
      </p:sp>
      <p:sp>
        <p:nvSpPr>
          <p:cNvPr id="7" name="Arrow"/>
          <p:cNvSpPr/>
          <p:nvPr/>
        </p:nvSpPr>
        <p:spPr>
          <a:xfrm>
            <a:off x="411175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8" name="Step number"/>
          <p:cNvSpPr/>
          <p:nvPr/>
        </p:nvSpPr>
        <p:spPr>
          <a:xfrm>
            <a:off x="441350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Máy chủ</a:t>
            </a:r>
            <a:endParaRPr lang="vi-VN" sz="1400"/>
          </a:p>
        </p:txBody>
      </p:sp>
      <p:sp>
        <p:nvSpPr>
          <p:cNvPr id="9" name="Step description"/>
          <p:cNvSpPr/>
          <p:nvPr/>
        </p:nvSpPr>
        <p:spPr>
          <a:xfrm>
            <a:off x="439521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FastAPI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REST API + WebSocket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SQLite / SQLAlchemy</a:t>
            </a:r>
            <a:endParaRPr lang="vi-VN" sz="1700"/>
          </a:p>
        </p:txBody>
      </p:sp>
      <p:sp>
        <p:nvSpPr>
          <p:cNvPr id="10" name="Arrow"/>
          <p:cNvSpPr/>
          <p:nvPr/>
        </p:nvSpPr>
        <p:spPr>
          <a:xfrm>
            <a:off x="787603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1" name="Step number"/>
          <p:cNvSpPr/>
          <p:nvPr/>
        </p:nvSpPr>
        <p:spPr>
          <a:xfrm>
            <a:off x="817778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Máy trẻ</a:t>
            </a:r>
            <a:endParaRPr lang="vi-VN" sz="1400"/>
          </a:p>
        </p:txBody>
      </p:sp>
      <p:sp>
        <p:nvSpPr>
          <p:cNvPr id="12" name="Step description"/>
          <p:cNvSpPr/>
          <p:nvPr/>
        </p:nvSpPr>
        <p:spPr>
          <a:xfrm>
            <a:off x="815949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Windows + Tray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Quota • DNS • app metadata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Báo trạng thái / sự kiện</a:t>
            </a:r>
            <a:endParaRPr lang="vi-VN" sz="1700"/>
          </a:p>
        </p:txBody>
      </p:sp>
      <p:sp>
        <p:nvSpPr>
          <p:cNvPr id="13" name="Note"/>
          <p:cNvSpPr/>
          <p:nvPr/>
        </p:nvSpPr>
        <p:spPr>
          <a:xfrm>
            <a:off x="530352" y="4325112"/>
            <a:ext cx="11128248" cy="132588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Các luồng dữ liệu</a:t>
            </a:r>
            <a:b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REST: đăng nhập, cấu hình và heartbeat. WebSocket: thông báo yêu cầu, duyệt thêm giờ và lệnh thời gian thực.</a:t>
            </a:r>
            <a:endParaRPr lang="vi-VN" sz="16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docs/ARCHITECTURE.md; server/app/main.py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03</a:t>
            </a:r>
            <a:endParaRPr lang="vi-V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03  /  CÁC MỐC ĐÃ XÂY DỰNG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Tiến trình phát triển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Nền tảng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FastAPI, SQLite, model dữ liệu, API cơ bản và ghép nối agent.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Chính sách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Quota, lịch tuần 7 × 48 ô, phiên bản policy và chữ ký HMAC.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Kiểm soát &amp; báo cáo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DNS/app ở mức lab, event, dashboard báo cáo và luồng minh bạch.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MỞ RỘNG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Trải nghiệm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nhập phụ huynh, Tray UI, WebSocket, khóa khẩn cấp và hủy ghép đôi.</a:t>
            </a:r>
            <a:endParaRPr lang="vi-VN" sz="15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docs/BAO_CAO_TIEN_DO_WEEK1_3.md;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04</a:t>
            </a:r>
            <a:endParaRPr lang="vi-V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04  /  GIAO DIỆN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Dashboard phụ huynh</a:t>
            </a:r>
            <a:endParaRPr lang="vi-VN" sz="3200"/>
          </a:p>
        </p:txBody>
      </p:sp>
      <p:pic>
        <p:nvPicPr>
          <p:cNvPr id="5" name="Dem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81328"/>
            <a:ext cx="5989320" cy="4498848"/>
          </a:xfrm>
          <a:prstGeom prst="rect">
            <a:avLst/>
          </a:prstGeom>
          <a:ln>
            <a:solidFill>
              <a:srgbClr val="D7E3E0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13232" y="59984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Ảnh demo dashboard</a:t>
            </a:r>
            <a:endParaRPr lang="vi-VN" sz="1000"/>
          </a:p>
        </p:txBody>
      </p:sp>
      <p:sp>
        <p:nvSpPr>
          <p:cNvPr id="7" name="Description"/>
          <p:cNvSpPr/>
          <p:nvPr/>
        </p:nvSpPr>
        <p:spPr>
          <a:xfrm>
            <a:off x="6812280" y="1737360"/>
            <a:ext cx="4709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0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Tạo hồ sơ và mã ghép đôi • chỉnh quota/lịch • quản lý domain và ứng dụng • xem báo cáo • xử lý yêu cầu của trẻ</a:t>
            </a:r>
            <a:endParaRPr lang="vi-VN" sz="2000"/>
          </a:p>
        </p:txBody>
      </p:sp>
      <p:sp>
        <p:nvSpPr>
          <p:cNvPr id="8" name="Callout"/>
          <p:cNvSpPr/>
          <p:nvPr/>
        </p:nvSpPr>
        <p:spPr>
          <a:xfrm>
            <a:off x="6812280" y="4160520"/>
            <a:ext cx="47091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Các thao tác được gom vào một giao diện web để phụ huynh cấu hình và theo dõi.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output/OGK_Dashboard_Phuhuynh.png; server/app/main.py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05</a:t>
            </a:r>
            <a:endParaRPr lang="vi-V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05  /  GIAO DIỆN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Trải nghiệm phía máy trẻ</a:t>
            </a:r>
            <a:endParaRPr lang="vi-VN" sz="3200"/>
          </a:p>
        </p:txBody>
      </p:sp>
      <p:pic>
        <p:nvPicPr>
          <p:cNvPr id="5" name="Dem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81328"/>
            <a:ext cx="5989320" cy="4498848"/>
          </a:xfrm>
          <a:prstGeom prst="rect">
            <a:avLst/>
          </a:prstGeom>
          <a:ln>
            <a:solidFill>
              <a:srgbClr val="D7E3E0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13232" y="59984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Ảnh demo phía trẻ</a:t>
            </a:r>
            <a:endParaRPr lang="vi-VN" sz="1000"/>
          </a:p>
        </p:txBody>
      </p:sp>
      <p:sp>
        <p:nvSpPr>
          <p:cNvPr id="7" name="Description"/>
          <p:cNvSpPr/>
          <p:nvPr/>
        </p:nvSpPr>
        <p:spPr>
          <a:xfrm>
            <a:off x="6812280" y="1737360"/>
            <a:ext cx="4709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0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Tray UI cho biết trạng thái ghép đôi và thời gian còn lại; trẻ có thể gửi yêu cầu thêm 15 phút, báo chặn nhầm và mở báo cáo.</a:t>
            </a:r>
            <a:endParaRPr lang="vi-VN" sz="2000"/>
          </a:p>
        </p:txBody>
      </p:sp>
      <p:sp>
        <p:nvSpPr>
          <p:cNvPr id="8" name="Callout"/>
          <p:cNvSpPr/>
          <p:nvPr/>
        </p:nvSpPr>
        <p:spPr>
          <a:xfrm>
            <a:off x="6812280" y="4160520"/>
            <a:ext cx="47091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Bản demo minh họa giao diện và luồng trao đổi; chưa thay thế đánh giá usability.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output/OGK_Client_Tre.png;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06</a:t>
            </a:r>
            <a:endParaRPr lang="vi-V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06  /  QUOTA &amp; LỊCH TUẦN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Chính sách thời gian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Quota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Giới hạn phút sử dụng ngày thường và cuối tuần.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Lịch 30 phút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7 ngày × 48 ô. Mỗi ô bật/tắt khoảng thời gian cho phép.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Đồng hồ agent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Đếm cục bộ mỗi giây; chỉ tính thời gian theo trạng thái hoạt động.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Đồng bộ có xác minh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Heartbeat khoảng 60 giây; agent kiểm tra HMAC-SHA256 trước khi nhận policy mới.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docs/ARCHITECTURE.md; server/app/main.py; agent/policy_runtime.py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07</a:t>
            </a:r>
            <a:endParaRPr lang="vi-V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07  /  DOMAIN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Lọc domain: luồng xử lý</a:t>
            </a:r>
            <a:endParaRPr lang="vi-VN" sz="3200"/>
          </a:p>
        </p:txBody>
      </p:sp>
      <p:sp>
        <p:nvSpPr>
          <p:cNvPr id="5" name="Step number"/>
          <p:cNvSpPr/>
          <p:nvPr/>
        </p:nvSpPr>
        <p:spPr>
          <a:xfrm>
            <a:off x="64922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 · Cấu hình</a:t>
            </a:r>
            <a:endParaRPr lang="vi-VN" sz="1400"/>
          </a:p>
        </p:txBody>
      </p:sp>
      <p:sp>
        <p:nvSpPr>
          <p:cNvPr id="6" name="Step description"/>
          <p:cNvSpPr/>
          <p:nvPr/>
        </p:nvSpPr>
        <p:spPr>
          <a:xfrm>
            <a:off x="63093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thêm domain / nhóm bị chặn vào policy.</a:t>
            </a:r>
            <a:endParaRPr lang="vi-VN" sz="1700"/>
          </a:p>
        </p:txBody>
      </p:sp>
      <p:sp>
        <p:nvSpPr>
          <p:cNvPr id="7" name="Arrow"/>
          <p:cNvSpPr/>
          <p:nvPr/>
        </p:nvSpPr>
        <p:spPr>
          <a:xfrm>
            <a:off x="317068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8" name="Step number"/>
          <p:cNvSpPr/>
          <p:nvPr/>
        </p:nvSpPr>
        <p:spPr>
          <a:xfrm>
            <a:off x="347243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2 · Đồng bộ</a:t>
            </a:r>
            <a:endParaRPr lang="vi-VN" sz="1400"/>
          </a:p>
        </p:txBody>
      </p:sp>
      <p:sp>
        <p:nvSpPr>
          <p:cNvPr id="9" name="Step description"/>
          <p:cNvSpPr/>
          <p:nvPr/>
        </p:nvSpPr>
        <p:spPr>
          <a:xfrm>
            <a:off x="345414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Server ký policy; agent nhận qua heartbeat.</a:t>
            </a:r>
            <a:endParaRPr lang="vi-VN" sz="1700"/>
          </a:p>
        </p:txBody>
      </p:sp>
      <p:sp>
        <p:nvSpPr>
          <p:cNvPr id="10" name="Arrow"/>
          <p:cNvSpPr/>
          <p:nvPr/>
        </p:nvSpPr>
        <p:spPr>
          <a:xfrm>
            <a:off x="599389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1" name="Step number"/>
          <p:cNvSpPr/>
          <p:nvPr/>
        </p:nvSpPr>
        <p:spPr>
          <a:xfrm>
            <a:off x="629564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3 · Truy vấn DNS</a:t>
            </a:r>
            <a:endParaRPr lang="vi-VN" sz="1400"/>
          </a:p>
        </p:txBody>
      </p:sp>
      <p:sp>
        <p:nvSpPr>
          <p:cNvPr id="12" name="Step description"/>
          <p:cNvSpPr/>
          <p:nvPr/>
        </p:nvSpPr>
        <p:spPr>
          <a:xfrm>
            <a:off x="627735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proxy nhận UDP tại 127.0.0.1:5353.</a:t>
            </a:r>
            <a:endParaRPr lang="vi-VN" sz="1700"/>
          </a:p>
        </p:txBody>
      </p:sp>
      <p:sp>
        <p:nvSpPr>
          <p:cNvPr id="13" name="Arrow"/>
          <p:cNvSpPr/>
          <p:nvPr/>
        </p:nvSpPr>
        <p:spPr>
          <a:xfrm>
            <a:off x="881710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4" name="Step number"/>
          <p:cNvSpPr/>
          <p:nvPr/>
        </p:nvSpPr>
        <p:spPr>
          <a:xfrm>
            <a:off x="911885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4 · Quyết định</a:t>
            </a:r>
            <a:endParaRPr lang="vi-VN" sz="1400"/>
          </a:p>
        </p:txBody>
      </p:sp>
      <p:sp>
        <p:nvSpPr>
          <p:cNvPr id="15" name="Step description"/>
          <p:cNvSpPr/>
          <p:nvPr/>
        </p:nvSpPr>
        <p:spPr>
          <a:xfrm>
            <a:off x="910056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Bị chặn → NXDOMAIN + event; được phép → có thể forward tới upstream.</a:t>
            </a:r>
            <a:endParaRPr lang="vi-VN" sz="1700"/>
          </a:p>
        </p:txBody>
      </p:sp>
      <p:sp>
        <p:nvSpPr>
          <p:cNvPr id="16" name="Note"/>
          <p:cNvSpPr/>
          <p:nvPr/>
        </p:nvSpPr>
        <p:spPr>
          <a:xfrm>
            <a:off x="530352" y="4325112"/>
            <a:ext cx="11128248" cy="132588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Phạm vi demo</a:t>
            </a:r>
            <a:b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Proxy chỉ nghe loopback, không tự đổi DNS Windows. Catalog dùng domain fixture `.test`; DoH/VPN có thể đi vòng.</a:t>
            </a:r>
            <a:endParaRPr lang="vi-VN" sz="16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docs/PIPELINE_CHAN_DOMAIN_UNG_DUNG.md; agent/dns_proxy.py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08</a:t>
            </a:r>
            <a:endParaRPr lang="vi-V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08  /  APP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Kiểm soát ứng dụng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Nhập quy tắc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nhập tên tiến trình, ví dụ `chrome` hoặc `msedge`; có thể thêm `.exe`.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Nhận diện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quan sát ứng dụng foreground và so khớp theo tên tiến trình.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Minh bạch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Khi chế độ kết thúc process tắt, agent vẫn ghi nhận rule đã khớp.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Kết thúc ứng dụng chỉ chạy khi bật `OGK_ENABLE_PROCESS_BLOCKING=1`. Đây là kiểm soát prototype, không bao phủ mọi tiến trình.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agent/activity_monitor.py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09</a:t>
            </a:r>
            <a:endParaRPr lang="vi-V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09  /  EVENT &amp; REPORT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Ghi nhận và báo cáo minh bạch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Agent ghi nhận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Metadata ứng dụng/domain, thời lượng và các sự kiện liên quan.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Server tổng hợp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Lưu event theo thiết bị, hồ sơ, thời điểm và loại sự kiện.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Dashboard phụ huynh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Xem thời lượng, top ứng dụng/domain và sự kiện bị chặn.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Phía trẻ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Mở báo cáo từ Tray UI và xem sự kiện gần đây.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server/app/models.py; server/app/main.py; docs/PRIVACY.md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10</a:t>
            </a:r>
            <a:endParaRPr lang="vi-V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10  /  WEBSOCKET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Ví dụ: trẻ xin thêm 15 phút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Gửi yêu cầu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Trẻ bấm xin thêm giờ trong Tray UI.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Chuyển thông báo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gửi yêu cầu; server lưu và báo dashboard phụ huynh qua WebSocket.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Phụ huynh duyệt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duyệt hoặc từ chối. Lựa chọn được gửi tới agent qua kênh thời gian thực / hàng lệnh.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04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Cập nhật quota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Khi duyệt, agent cộng số phút đã duyệt vào thời lượng hôm đó.</a:t>
            </a:r>
            <a:endParaRPr lang="vi-VN" sz="15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server/app/main.py; agent/main.py;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11</a:t>
            </a:r>
            <a:endParaRPr lang="vi-VN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11  /  QUẢN LÝ THIẾT BỊ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Ghép đôi và lệnh khẩn cấp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Ghép đôi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Mã dùng một lần, 8 ký tự, hiệu lực 10 phút; agent đổi mã lấy token thiết bị.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Thu hồi ghép đôi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Dashboard có thao tác hủy ghép đôi để gỡ thiết bị khỏi hồ sơ.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Khóa ngay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gửi lệnh khẩn cấp qua WebSocket tới agent đang kết nối.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Khóa phiên Windows phụ thuộc `OGK_ENABLE_WINDOWS_LOCK=1`; mặc định tùy chọn này tắt.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server/app/main.py; agent/main.py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12</a:t>
            </a:r>
            <a:endParaRPr lang="vi-V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12  /  THIẾT KẾ CÓ TRÁCH NHIỆM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Bảo mật và quyền riêng tư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Thông tin xác thực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Mật khẩu phụ huynh băm PBKDF2; phiên dashboard dùng cookie HttpOnly.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Toàn vẹn policy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HMAC-SHA256 giúp phát hiện payload policy bị thay đổi; không mã hóa nội dung.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Thu thập giới hạn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Không ghi nội dung trang, tiêu đề cửa sổ, phím bấm, tin nhắn hay ảnh màn hình.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HMAC không thay thế HTTPS/TLS. Mô hình triển khai và bảo vệ thiết bị vẫn cần được hoàn thiện.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docs/PRIVACY.md; docs/THREATMODEL.md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13</a:t>
            </a:r>
            <a:endParaRPr lang="vi-VN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13  /  DEMO TRONG LAB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Kịch bản trình diễn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Khởi động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Chạy FastAPI local và mở dashboard.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Tạo tài khoản &amp; hồ sơ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ký phụ huynh, tạo hồ sơ trẻ và mã ghép đôi.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Ghép agent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Chạy agent Windows và nhập mã dùng một lần.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4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Cấu hình &amp; quan sát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Đặt quota/lịch, domain/app; kiểm tra sự kiện và yêu cầu thêm giờ.</a:t>
            </a:r>
            <a:endParaRPr lang="vi-VN" sz="1500"/>
          </a:p>
        </p:txBody>
      </p:sp>
      <p:sp>
        <p:nvSpPr>
          <p:cNvPr id="17" name="Note"/>
          <p:cNvSpPr/>
          <p:nvPr/>
        </p:nvSpPr>
        <p:spPr>
          <a:xfrm>
            <a:off x="530352" y="5532120"/>
            <a:ext cx="11128248" cy="77724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demo</a:t>
            </a:r>
            <a:b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Kiểm tra truy vấn trực tiếp tới 127.0.0.1:5353; phép thử này không chứng minh trình duyệt đang dùng proxy.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docs/ARCHITECTURE.md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14</a:t>
            </a:r>
            <a:endParaRPr lang="vi-V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14  /  ĐÁNH GIÁ TRUNG THỰC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Giới hạn hiện tại và hướng tiếp theo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Độ bao phủ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loopback chưa tự áp dụng toàn hệ thống; DoH/VPN và các đường bypass chưa xử lý.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Dữ liệu phân loại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Catalog `.test` là fixture; chưa đo false positive/negative trên website thật.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Kiểm chứng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Chưa có số liệu kiểm thử bảo mật, hiệu năng, độ chính xác hoặc triển khai dài hạn.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Ưu tiên tiếp theo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Bổ sung kiểm thử, TLS và kiểm soát quyền; chốt consent/lưu trữ; đo domain/app trong lab được phép.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docs/THREATMODEL.md; docs/BAO_CAO_TIEN_DO_WEEK1_3.md;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15</a:t>
            </a:r>
            <a:endParaRPr lang="vi-VN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658368" y="566928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300" b="1">
                <a:solidFill>
                  <a:srgbClr val="78CDC0"/>
                </a:solidFill>
                <a:latin typeface="Segoe UI"/>
                <a:ea typeface="Segoe UI"/>
                <a:cs typeface="Segoe UI"/>
              </a:rPr>
              <a:t xml:space="preserve">15  /  TÓM TẮT</a:t>
            </a:r>
            <a:endParaRPr lang="vi-VN" sz="1300"/>
          </a:p>
        </p:txBody>
      </p:sp>
      <p:sp>
        <p:nvSpPr>
          <p:cNvPr id="4" name="Closing title"/>
          <p:cNvSpPr/>
          <p:nvPr/>
        </p:nvSpPr>
        <p:spPr>
          <a:xfrm>
            <a:off x="658368" y="107899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OGK đã nối được một luồng prototype đầu cuối</a:t>
            </a:r>
            <a:endParaRPr lang="vi-VN" sz="3400"/>
          </a:p>
        </p:txBody>
      </p:sp>
      <p:sp>
        <p:nvSpPr>
          <p:cNvPr id="5" name="Closing body"/>
          <p:cNvSpPr/>
          <p:nvPr/>
        </p:nvSpPr>
        <p:spPr>
          <a:xfrm>
            <a:off x="713232" y="2084832"/>
            <a:ext cx="98755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100" b="0">
                <a:solidFill>
                  <a:srgbClr val="D9E9E7"/>
                </a:solidFill>
                <a:latin typeface="Segoe UI"/>
                <a:ea typeface="Segoe UI"/>
                <a:cs typeface="Segoe UI"/>
              </a:rPr>
              <a:t xml:space="preserve">Phụ huynh cấu hình → server đồng bộ policy và lệnh → agent áp dụng trong phạm vi demo → hai phía cùng xem trạng thái và báo cáo.</a:t>
            </a:r>
            <a:endParaRPr lang="vi-VN" sz="2100"/>
          </a:p>
        </p:txBody>
      </p:sp>
      <p:sp>
        <p:nvSpPr>
          <p:cNvPr id="6" name="Closing callout"/>
          <p:cNvSpPr/>
          <p:nvPr/>
        </p:nvSpPr>
        <p:spPr>
          <a:xfrm>
            <a:off x="713232" y="3456432"/>
            <a:ext cx="10241280" cy="841248"/>
          </a:xfrm>
          <a:prstGeom prst="roundRect">
            <a:avLst/>
          </a:prstGeom>
          <a:solidFill>
            <a:srgbClr val="1C4354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Thông điệp báo cáo: đã xây dựng luồng minh họa; chưa tuyên bố đạt tiêu chí nghiệm thu hay sẵn sàng triển khai thực tế.</a:t>
            </a:r>
            <a:endParaRPr lang="vi-VN" sz="1700"/>
          </a:p>
        </p:txBody>
      </p:sp>
      <p:sp>
        <p:nvSpPr>
          <p:cNvPr id="7" name="References"/>
          <p:cNvSpPr/>
          <p:nvPr/>
        </p:nvSpPr>
        <p:spPr>
          <a:xfrm>
            <a:off x="713232" y="48006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Tài liệu tham chiếu: README.md · docs/ARCHITECTURE.md · docs/PRIVACY.md · docs/THREATMODEL.md · docs/BAO_CAO_TIEN_DO_WEEK1_3.md</a:t>
            </a:r>
            <a:endParaRPr lang="vi-VN" sz="12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Nguồn: README.md; docs/ARCHITECTURE.md; docs/THREATMODEL.md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16</a:t>
            </a:r>
            <a:endParaRPr lang="vi-V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K">
  <a:themeElements>
    <a:clrScheme name="OGK">
      <a:dk1>
        <a:srgbClr val="123B38"/>
      </a:dk1>
      <a:lt1>
        <a:srgbClr val="FFFFFF"/>
      </a:lt1>
      <a:dk2>
        <a:srgbClr val="203E3B"/>
      </a:dk2>
      <a:lt2>
        <a:srgbClr val="F5F7F2"/>
      </a:lt2>
      <a:accent1>
        <a:srgbClr val="168878"/>
      </a:accent1>
      <a:accent2>
        <a:srgbClr val="48B89A"/>
      </a:accent2>
      <a:accent3>
        <a:srgbClr val="E9AC51"/>
      </a:accent3>
      <a:accent4>
        <a:srgbClr val="D87862"/>
      </a:accent4>
      <a:accent5>
        <a:srgbClr val="547F75"/>
      </a:accent5>
      <a:accent6>
        <a:srgbClr val="91B8A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GK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>
  <dc:title>OGK — Báo cáo chi tiết F2 và F3</dc:title>
  <dc:subject>Lọc domain, kiểm soát ứng dụng và báo cáo minh bạch</dc:subject>
  <dc:creator>OGK Project</dc:creator>
</cp:coreProperties>
</file>